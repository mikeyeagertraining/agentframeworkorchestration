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6.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7.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8.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9.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 id="2147483761" r:id="rId5"/>
    <p:sldMasterId id="2147483706" r:id="rId6"/>
    <p:sldMasterId id="2147483716" r:id="rId7"/>
    <p:sldMasterId id="2147483725" r:id="rId8"/>
    <p:sldMasterId id="2147483734" r:id="rId9"/>
    <p:sldMasterId id="2147483743" r:id="rId10"/>
    <p:sldMasterId id="2147483752" r:id="rId11"/>
    <p:sldMasterId id="2147483782" r:id="rId12"/>
    <p:sldMasterId id="2147483791" r:id="rId13"/>
  </p:sldMasterIdLst>
  <p:notesMasterIdLst>
    <p:notesMasterId r:id="rId38"/>
  </p:notesMasterIdLst>
  <p:sldIdLst>
    <p:sldId id="2141411853" r:id="rId14"/>
    <p:sldId id="268" r:id="rId15"/>
    <p:sldId id="2141411852" r:id="rId16"/>
    <p:sldId id="262" r:id="rId17"/>
    <p:sldId id="2141411854" r:id="rId18"/>
    <p:sldId id="2141412044" r:id="rId19"/>
    <p:sldId id="2141411858" r:id="rId20"/>
    <p:sldId id="2141412041" r:id="rId21"/>
    <p:sldId id="2141412042" r:id="rId22"/>
    <p:sldId id="2141412045" r:id="rId23"/>
    <p:sldId id="2141412050" r:id="rId24"/>
    <p:sldId id="2141412046" r:id="rId25"/>
    <p:sldId id="2141412047" r:id="rId26"/>
    <p:sldId id="2141412048" r:id="rId27"/>
    <p:sldId id="2141412049" r:id="rId28"/>
    <p:sldId id="2141412036" r:id="rId29"/>
    <p:sldId id="2141412034" r:id="rId30"/>
    <p:sldId id="2141412037" r:id="rId31"/>
    <p:sldId id="2141411638" r:id="rId32"/>
    <p:sldId id="2141412018" r:id="rId33"/>
    <p:sldId id="2141412035" r:id="rId34"/>
    <p:sldId id="2141412024" r:id="rId35"/>
    <p:sldId id="2141411913" r:id="rId36"/>
    <p:sldId id="2141411855"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5" autoAdjust="0"/>
    <p:restoredTop sz="96327"/>
  </p:normalViewPr>
  <p:slideViewPr>
    <p:cSldViewPr snapToGrid="0" showGuides="1">
      <p:cViewPr>
        <p:scale>
          <a:sx n="96" d="100"/>
          <a:sy n="96" d="100"/>
        </p:scale>
        <p:origin x="84" y="156"/>
      </p:cViewPr>
      <p:guideLst>
        <p:guide orient="horz" pos="2136"/>
        <p:guide pos="3840"/>
      </p:guideLst>
    </p:cSldViewPr>
  </p:slideViewPr>
  <p:outlineViewPr>
    <p:cViewPr>
      <p:scale>
        <a:sx n="33" d="100"/>
        <a:sy n="33" d="100"/>
      </p:scale>
      <p:origin x="0" y="-1615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presProps" Target="presProps.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0" Type="http://schemas.openxmlformats.org/officeDocument/2006/relationships/slide" Target="slides/slide7.xml"/><Relationship Id="rId29" Type="http://schemas.openxmlformats.org/officeDocument/2006/relationships/slide" Target="slides/slide16.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C479BD0-4CA5-4910-A2A1-229068F4EC0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593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C479BD0-4CA5-4910-A2A1-229068F4EC0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14366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C4D76"/>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FCE494-73CF-CE19-56B8-89417B3C2DB2}"/>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a:extLst>
              <a:ext uri="{FF2B5EF4-FFF2-40B4-BE49-F238E27FC236}">
                <a16:creationId xmlns:a16="http://schemas.microsoft.com/office/drawing/2014/main" id="{E2A1E3A1-491F-34E4-BF20-C30D8D9D52BF}"/>
              </a:ext>
            </a:extLst>
          </p:cNvPr>
          <p:cNvPicPr>
            <a:picLocks noChangeAspect="1"/>
          </p:cNvPicPr>
          <p:nvPr userDrawn="1"/>
        </p:nvPicPr>
        <p:blipFill>
          <a:blip r:embed="rId3"/>
          <a:srcRect/>
          <a:stretch/>
        </p:blipFill>
        <p:spPr>
          <a:xfrm>
            <a:off x="4637953" y="1352537"/>
            <a:ext cx="2916093" cy="105222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2133814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6676384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8252431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reserve="1">
  <p:cSld name="Centered Tit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1FE610-6047-B205-39D5-AAE0FC88D49F}"/>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3297075"/>
            <a:ext cx="8928887" cy="1568871"/>
          </a:xfrm>
        </p:spPr>
        <p:txBody>
          <a:bodyPr/>
          <a:lstStyle>
            <a:lvl1pPr algn="ctr">
              <a:defRPr/>
            </a:lvl1pPr>
          </a:lstStyle>
          <a:p>
            <a:r>
              <a:rPr lang="en-US"/>
              <a:t>Click to edit Master title style</a:t>
            </a:r>
            <a:endParaRPr lang="en-US" dirty="0"/>
          </a:p>
        </p:txBody>
      </p:sp>
      <p:pic>
        <p:nvPicPr>
          <p:cNvPr id="3" name="Picture 4">
            <a:extLst>
              <a:ext uri="{FF2B5EF4-FFF2-40B4-BE49-F238E27FC236}">
                <a16:creationId xmlns:a16="http://schemas.microsoft.com/office/drawing/2014/main" id="{B417DD18-433C-846F-CF0C-BD9D67B16A0B}"/>
              </a:ext>
            </a:extLst>
          </p:cNvPr>
          <p:cNvPicPr>
            <a:picLocks noChangeAspect="1" noChangeArrowheads="1"/>
          </p:cNvPicPr>
          <p:nvPr userDrawn="1"/>
        </p:nvPicPr>
        <p:blipFill>
          <a:blip r:embed="rId3"/>
          <a:srcRect/>
          <a:stretch/>
        </p:blipFill>
        <p:spPr bwMode="auto">
          <a:xfrm>
            <a:off x="3243460" y="1875442"/>
            <a:ext cx="5705079" cy="2058583"/>
          </a:xfrm>
          <a:prstGeom prst="rect">
            <a:avLst/>
          </a:prstGeom>
          <a:ln>
            <a:noFill/>
          </a:ln>
          <a:effectLst>
            <a:outerShdw blurRad="50800" dist="88900" dir="2700000" algn="tl" rotWithShape="0">
              <a:prstClr val="black">
                <a:alpha val="29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945853"/>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333908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41658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no logo">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21206D-BB15-4A7C-73CF-0313EC668624}"/>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75161312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096884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C4D76"/>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4CC6B-D061-B9BF-8D76-C598B06F487F}"/>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4">
            <a:extLst>
              <a:ext uri="{FF2B5EF4-FFF2-40B4-BE49-F238E27FC236}">
                <a16:creationId xmlns:a16="http://schemas.microsoft.com/office/drawing/2014/main" id="{8CF28203-1C70-CFCF-4C07-DCDFB7106B78}"/>
              </a:ext>
            </a:extLst>
          </p:cNvPr>
          <p:cNvPicPr>
            <a:picLocks noChangeAspect="1" noChangeArrowheads="1"/>
          </p:cNvPicPr>
          <p:nvPr userDrawn="1"/>
        </p:nvPicPr>
        <p:blipFill>
          <a:blip r:embed="rId3"/>
          <a:srcRect/>
          <a:stretch/>
        </p:blipFill>
        <p:spPr bwMode="auto">
          <a:xfrm>
            <a:off x="4324793" y="1240535"/>
            <a:ext cx="3536883" cy="1273278"/>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50795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43902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496492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39567202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6160328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012715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504943-1DCF-F00B-57E9-8B85F07EA633}"/>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359639850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322488855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C4D76"/>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4CC6B-D061-B9BF-8D76-C598B06F487F}"/>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4">
            <a:extLst>
              <a:ext uri="{FF2B5EF4-FFF2-40B4-BE49-F238E27FC236}">
                <a16:creationId xmlns:a16="http://schemas.microsoft.com/office/drawing/2014/main" id="{8CF28203-1C70-CFCF-4C07-DCDFB7106B7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p:blipFill>
        <p:spPr bwMode="auto">
          <a:xfrm>
            <a:off x="4324789" y="1240535"/>
            <a:ext cx="3536890" cy="1273278"/>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95545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271436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5887655"/>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292786331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159112"/>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236436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504943-1DCF-F00B-57E9-8B85F07EA633}"/>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06268499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57350161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C4D76"/>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7D0310D-E985-2A33-82CE-DB41E92B90D6}"/>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descr="A black and white logo&#10;&#10;Description automatically generated with low confidence">
            <a:extLst>
              <a:ext uri="{FF2B5EF4-FFF2-40B4-BE49-F238E27FC236}">
                <a16:creationId xmlns:a16="http://schemas.microsoft.com/office/drawing/2014/main" id="{E4BE3F11-E9D1-DA53-7C64-743575998AB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19604" y="1238104"/>
            <a:ext cx="3544841" cy="1279097"/>
          </a:xfrm>
          <a:prstGeom prst="rect">
            <a:avLst/>
          </a:prstGeom>
          <a:ln>
            <a:noFill/>
          </a:ln>
          <a:effectLst/>
        </p:spPr>
      </p:pic>
    </p:spTree>
    <p:extLst>
      <p:ext uri="{BB962C8B-B14F-4D97-AF65-F5344CB8AC3E}">
        <p14:creationId xmlns:p14="http://schemas.microsoft.com/office/powerpoint/2010/main" val="56679615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8744801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9845915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900507774"/>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0651235"/>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66869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267B241-23A7-3062-60F6-DCC5050B9E77}"/>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391353417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294115375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8E14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E4D50A87-485C-DE45-65D4-E29A775520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319604" y="1238104"/>
            <a:ext cx="3553050" cy="1279096"/>
          </a:xfrm>
          <a:prstGeom prst="rect">
            <a:avLst/>
          </a:prstGeom>
          <a:ln>
            <a:noFill/>
          </a:ln>
          <a:effectLst/>
        </p:spPr>
      </p:pic>
      <p:pic>
        <p:nvPicPr>
          <p:cNvPr id="6" name="Picture 5">
            <a:extLst>
              <a:ext uri="{FF2B5EF4-FFF2-40B4-BE49-F238E27FC236}">
                <a16:creationId xmlns:a16="http://schemas.microsoft.com/office/drawing/2014/main" id="{1F165144-F5F4-FA21-D3B3-0A3364972232}"/>
              </a:ext>
            </a:extLst>
          </p:cNvPr>
          <p:cNvPicPr>
            <a:picLocks noChangeAspect="1"/>
          </p:cNvPicPr>
          <p:nvPr userDrawn="1"/>
        </p:nvPicPr>
        <p:blipFill>
          <a:blip r:embed="rId3">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278620173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9275212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4782063"/>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46773096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6418083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72276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32AE82-9D26-0BCC-3DD8-56F4B9BA255A}"/>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394996980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1782835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38955A"/>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DD714E8-3158-49CB-E1B1-7D944B35A189}"/>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3C6B0C2D-E099-6CF3-7EC4-4F4BB6C8178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19604" y="1238104"/>
            <a:ext cx="3553050" cy="1288158"/>
          </a:xfrm>
          <a:prstGeom prst="rect">
            <a:avLst/>
          </a:prstGeom>
          <a:ln>
            <a:noFill/>
          </a:ln>
          <a:effectLst/>
        </p:spPr>
      </p:pic>
    </p:spTree>
    <p:extLst>
      <p:ext uri="{BB962C8B-B14F-4D97-AF65-F5344CB8AC3E}">
        <p14:creationId xmlns:p14="http://schemas.microsoft.com/office/powerpoint/2010/main" val="1486577545"/>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394135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754873"/>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7086115"/>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80743425"/>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1975698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F83734-D4A0-CE82-BC6C-0FCFD87BEF14}"/>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3258779964"/>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7007584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AA82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4" name="Picture 3">
            <a:extLst>
              <a:ext uri="{FF2B5EF4-FFF2-40B4-BE49-F238E27FC236}">
                <a16:creationId xmlns:a16="http://schemas.microsoft.com/office/drawing/2014/main" id="{6331C568-301C-CF53-FF58-0A9E16AAC4B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294437" y="1238104"/>
            <a:ext cx="3578217" cy="1288157"/>
          </a:xfrm>
          <a:prstGeom prst="rect">
            <a:avLst/>
          </a:prstGeom>
          <a:ln>
            <a:noFill/>
          </a:ln>
          <a:effectLst/>
        </p:spPr>
      </p:pic>
      <p:pic>
        <p:nvPicPr>
          <p:cNvPr id="6" name="Picture 5">
            <a:extLst>
              <a:ext uri="{FF2B5EF4-FFF2-40B4-BE49-F238E27FC236}">
                <a16:creationId xmlns:a16="http://schemas.microsoft.com/office/drawing/2014/main" id="{FE60C252-DDE3-D129-5EFB-CEA4A07E552B}"/>
              </a:ext>
            </a:extLst>
          </p:cNvPr>
          <p:cNvPicPr>
            <a:picLocks noChangeAspect="1"/>
          </p:cNvPicPr>
          <p:nvPr userDrawn="1"/>
        </p:nvPicPr>
        <p:blipFill>
          <a:blip r:embed="rId3">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177755663"/>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66056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845450"/>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261851285"/>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50881541"/>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417941"/>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593915E-7C7E-0D58-CD18-35C0144EB1CF}"/>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1552059800"/>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21981559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3ACA80-D1DB-D18A-843B-E38BE77123CC}"/>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a:extLst>
              <a:ext uri="{FF2B5EF4-FFF2-40B4-BE49-F238E27FC236}">
                <a16:creationId xmlns:a16="http://schemas.microsoft.com/office/drawing/2014/main" id="{E2A1E3A1-491F-34E4-BF20-C30D8D9D52BF}"/>
              </a:ext>
            </a:extLst>
          </p:cNvPr>
          <p:cNvPicPr>
            <a:picLocks noChangeAspect="1"/>
          </p:cNvPicPr>
          <p:nvPr userDrawn="1"/>
        </p:nvPicPr>
        <p:blipFill>
          <a:blip r:embed="rId3"/>
          <a:srcRect/>
          <a:stretch/>
        </p:blipFill>
        <p:spPr>
          <a:xfrm>
            <a:off x="4372220" y="1166308"/>
            <a:ext cx="3447559" cy="1243995"/>
          </a:xfrm>
          <a:prstGeom prst="rect">
            <a:avLst/>
          </a:prstGeom>
        </p:spPr>
      </p:pic>
    </p:spTree>
    <p:extLst>
      <p:ext uri="{BB962C8B-B14F-4D97-AF65-F5344CB8AC3E}">
        <p14:creationId xmlns:p14="http://schemas.microsoft.com/office/powerpoint/2010/main" val="153879213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1995532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6472481"/>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titleOnly" preserve="1">
  <p:cSld name="Centered 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B7C748-7B6C-8FF6-1180-1A1502759D28}"/>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3043405"/>
            <a:ext cx="8928887" cy="1568871"/>
          </a:xfrm>
        </p:spPr>
        <p:txBody>
          <a:bodyPr/>
          <a:lstStyle>
            <a:lvl1pPr algn="ctr">
              <a:defRPr/>
            </a:lvl1pPr>
          </a:lstStyle>
          <a:p>
            <a:r>
              <a:rPr lang="en-US"/>
              <a:t>Click to edit Master title style</a:t>
            </a:r>
            <a:endParaRPr lang="en-US" dirty="0"/>
          </a:p>
        </p:txBody>
      </p:sp>
      <p:pic>
        <p:nvPicPr>
          <p:cNvPr id="3" name="Picture 4">
            <a:extLst>
              <a:ext uri="{FF2B5EF4-FFF2-40B4-BE49-F238E27FC236}">
                <a16:creationId xmlns:a16="http://schemas.microsoft.com/office/drawing/2014/main" id="{B417DD18-433C-846F-CF0C-BD9D67B16A0B}"/>
              </a:ext>
            </a:extLst>
          </p:cNvPr>
          <p:cNvPicPr>
            <a:picLocks noChangeAspect="1" noChangeArrowheads="1"/>
          </p:cNvPicPr>
          <p:nvPr userDrawn="1"/>
        </p:nvPicPr>
        <p:blipFill>
          <a:blip r:embed="rId3"/>
          <a:srcRect/>
          <a:stretch/>
        </p:blipFill>
        <p:spPr bwMode="auto">
          <a:xfrm>
            <a:off x="4400074" y="1946289"/>
            <a:ext cx="3391850" cy="1223893"/>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544455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06144271"/>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20751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blank" preserve="1">
  <p:cSld name="Blank, no logo">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A594EDF-7AA8-7A37-127F-7262F6B7EB53}"/>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303256751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22109840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6203E6-8F24-9EB8-7708-B2F0D7BECC99}"/>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E4D50A87-485C-DE45-65D4-E29A7755202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319604" y="1238104"/>
            <a:ext cx="3553050" cy="1279096"/>
          </a:xfrm>
          <a:prstGeom prst="rect">
            <a:avLst/>
          </a:prstGeom>
          <a:ln>
            <a:noFill/>
          </a:ln>
          <a:effectLst/>
        </p:spPr>
      </p:pic>
    </p:spTree>
    <p:extLst>
      <p:ext uri="{BB962C8B-B14F-4D97-AF65-F5344CB8AC3E}">
        <p14:creationId xmlns:p14="http://schemas.microsoft.com/office/powerpoint/2010/main" val="255339745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1166273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2430348"/>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3089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3756274894"/>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35417447"/>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163176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087185-1E03-3933-B50B-F7CC2EBCCE44}"/>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83847290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404437318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3.png"/><Relationship Id="rId5" Type="http://schemas.openxmlformats.org/officeDocument/2006/relationships/slideLayout" Target="../slideLayouts/slideLayout13.xml"/><Relationship Id="rId10" Type="http://schemas.openxmlformats.org/officeDocument/2006/relationships/image" Target="../media/image1.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4.png"/><Relationship Id="rId5" Type="http://schemas.openxmlformats.org/officeDocument/2006/relationships/slideLayout" Target="../slideLayouts/slideLayout21.xml"/><Relationship Id="rId10" Type="http://schemas.openxmlformats.org/officeDocument/2006/relationships/image" Target="../media/image1.pn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image" Target="../media/image6.png"/><Relationship Id="rId5" Type="http://schemas.openxmlformats.org/officeDocument/2006/relationships/slideLayout" Target="../slideLayouts/slideLayout29.xml"/><Relationship Id="rId10" Type="http://schemas.openxmlformats.org/officeDocument/2006/relationships/image" Target="../media/image1.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image" Target="../media/image8.png"/><Relationship Id="rId5" Type="http://schemas.openxmlformats.org/officeDocument/2006/relationships/slideLayout" Target="../slideLayouts/slideLayout37.xml"/><Relationship Id="rId10" Type="http://schemas.openxmlformats.org/officeDocument/2006/relationships/image" Target="../media/image1.png"/><Relationship Id="rId4" Type="http://schemas.openxmlformats.org/officeDocument/2006/relationships/slideLayout" Target="../slideLayouts/slideLayout36.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image" Target="../media/image10.png"/><Relationship Id="rId5" Type="http://schemas.openxmlformats.org/officeDocument/2006/relationships/slideLayout" Target="../slideLayouts/slideLayout45.xml"/><Relationship Id="rId10" Type="http://schemas.openxmlformats.org/officeDocument/2006/relationships/image" Target="../media/image1.png"/><Relationship Id="rId4" Type="http://schemas.openxmlformats.org/officeDocument/2006/relationships/slideLayout" Target="../slideLayouts/slideLayout44.xml"/><Relationship Id="rId9"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image" Target="../media/image12.png"/><Relationship Id="rId5" Type="http://schemas.openxmlformats.org/officeDocument/2006/relationships/slideLayout" Target="../slideLayouts/slideLayout53.xml"/><Relationship Id="rId10" Type="http://schemas.openxmlformats.org/officeDocument/2006/relationships/image" Target="../media/image1.png"/><Relationship Id="rId4" Type="http://schemas.openxmlformats.org/officeDocument/2006/relationships/slideLayout" Target="../slideLayouts/slideLayout52.xml"/><Relationship Id="rId9"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image" Target="../media/image14.png"/><Relationship Id="rId5" Type="http://schemas.openxmlformats.org/officeDocument/2006/relationships/slideLayout" Target="../slideLayouts/slideLayout61.xml"/><Relationship Id="rId10" Type="http://schemas.openxmlformats.org/officeDocument/2006/relationships/image" Target="../media/image1.png"/><Relationship Id="rId4" Type="http://schemas.openxmlformats.org/officeDocument/2006/relationships/slideLayout" Target="../slideLayouts/slideLayout60.xml"/><Relationship Id="rId9"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image" Target="../media/image16.png"/><Relationship Id="rId5" Type="http://schemas.openxmlformats.org/officeDocument/2006/relationships/slideLayout" Target="../slideLayouts/slideLayout69.xml"/><Relationship Id="rId10" Type="http://schemas.openxmlformats.org/officeDocument/2006/relationships/image" Target="../media/image1.png"/><Relationship Id="rId4" Type="http://schemas.openxmlformats.org/officeDocument/2006/relationships/slideLayout" Target="../slideLayouts/slideLayout68.xml"/><Relationship Id="rId9"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0.xml"/><Relationship Id="rId3" Type="http://schemas.openxmlformats.org/officeDocument/2006/relationships/slideLayout" Target="../slideLayouts/slideLayout75.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image" Target="../media/image8.png"/><Relationship Id="rId5" Type="http://schemas.openxmlformats.org/officeDocument/2006/relationships/slideLayout" Target="../slideLayouts/slideLayout77.xml"/><Relationship Id="rId10" Type="http://schemas.openxmlformats.org/officeDocument/2006/relationships/image" Target="../media/image1.png"/><Relationship Id="rId4" Type="http://schemas.openxmlformats.org/officeDocument/2006/relationships/slideLayout" Target="../slideLayouts/slideLayout76.xml"/><Relationship Id="rId9"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2C4D76"/>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1850C7-6696-CDEC-CEDA-882C7DFFEF88}"/>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484555"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5044EC2E-CA7A-FBE9-0026-F0F39B431CDD}"/>
              </a:ext>
            </a:extLst>
          </p:cNvPr>
          <p:cNvPicPr>
            <a:picLocks noChangeAspect="1"/>
          </p:cNvPicPr>
          <p:nvPr userDrawn="1"/>
        </p:nvPicPr>
        <p:blipFill>
          <a:blip r:embed="rId11"/>
          <a:srcRect/>
          <a:stretch/>
        </p:blipFill>
        <p:spPr>
          <a:xfrm>
            <a:off x="9639938" y="485126"/>
            <a:ext cx="1948334" cy="70302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53170624"/>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5" r:id="rId3"/>
    <p:sldLayoutId id="2147483704" r:id="rId4"/>
    <p:sldLayoutId id="2147483697" r:id="rId5"/>
    <p:sldLayoutId id="2147483698" r:id="rId6"/>
    <p:sldLayoutId id="2147483714" r:id="rId7"/>
    <p:sldLayoutId id="2147483705"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2C4D76"/>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7A0F7D-82D7-61E1-DABF-E138A5966A64}"/>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4">
            <a:extLst>
              <a:ext uri="{FF2B5EF4-FFF2-40B4-BE49-F238E27FC236}">
                <a16:creationId xmlns:a16="http://schemas.microsoft.com/office/drawing/2014/main" id="{A257F6AD-664F-4B6F-86B2-2D99F7D9CA88}"/>
              </a:ext>
            </a:extLst>
          </p:cNvPr>
          <p:cNvPicPr>
            <a:picLocks noChangeAspect="1" noChangeArrowheads="1"/>
          </p:cNvPicPr>
          <p:nvPr userDrawn="1"/>
        </p:nvPicPr>
        <p:blipFill>
          <a:blip r:embed="rId11"/>
          <a:srcRect/>
          <a:stretch/>
        </p:blipFill>
        <p:spPr bwMode="auto">
          <a:xfrm>
            <a:off x="10026495" y="429774"/>
            <a:ext cx="1767117" cy="636162"/>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42166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2C4D76"/>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C7A0F7D-82D7-61E1-DABF-E138A5966A64}"/>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4">
            <a:extLst>
              <a:ext uri="{FF2B5EF4-FFF2-40B4-BE49-F238E27FC236}">
                <a16:creationId xmlns:a16="http://schemas.microsoft.com/office/drawing/2014/main" id="{A257F6AD-664F-4B6F-86B2-2D99F7D9CA88}"/>
              </a:ext>
            </a:extLst>
          </p:cNvPr>
          <p:cNvPicPr>
            <a:picLocks noChangeAspect="1" noChangeArrowheads="1"/>
          </p:cNvPicPr>
          <p:nvPr userDrawn="1"/>
        </p:nvPicPr>
        <p:blipFill>
          <a:blip r:embed="rId11"/>
          <a:srcRect/>
          <a:stretch/>
        </p:blipFill>
        <p:spPr bwMode="auto">
          <a:xfrm>
            <a:off x="10026495" y="429038"/>
            <a:ext cx="1767117" cy="637635"/>
          </a:xfrm>
          <a:prstGeom prst="rect">
            <a:avLst/>
          </a:prstGeom>
          <a:ln>
            <a:no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639309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5" r:id="rId7"/>
    <p:sldLayoutId id="2147483713"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2C4D76"/>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B8AA542-5DFB-DC8B-B660-64E14014B62F}"/>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BD708F44-4B21-F542-29F3-2AE67B2F3902}"/>
              </a:ext>
            </a:extLst>
          </p:cNvPr>
          <p:cNvPicPr>
            <a:picLocks noChangeAspect="1"/>
          </p:cNvPicPr>
          <p:nvPr userDrawn="1"/>
        </p:nvPicPr>
        <p:blipFill>
          <a:blip r:embed="rId11"/>
          <a:srcRect/>
          <a:stretch/>
        </p:blipFill>
        <p:spPr>
          <a:xfrm>
            <a:off x="10020324" y="426073"/>
            <a:ext cx="1775334" cy="640600"/>
          </a:xfrm>
          <a:prstGeom prst="rect">
            <a:avLst/>
          </a:prstGeom>
          <a:ln>
            <a:noFill/>
          </a:ln>
          <a:effectLst/>
        </p:spPr>
      </p:pic>
    </p:spTree>
    <p:extLst>
      <p:ext uri="{BB962C8B-B14F-4D97-AF65-F5344CB8AC3E}">
        <p14:creationId xmlns:p14="http://schemas.microsoft.com/office/powerpoint/2010/main" val="237913039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8E1416"/>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C1D224F-46E0-1281-C110-C1D5A61361F4}"/>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A6DCB766-CDB8-E2B7-53E9-3BA87F10A787}"/>
              </a:ext>
            </a:extLst>
          </p:cNvPr>
          <p:cNvPicPr>
            <a:picLocks noChangeAspect="1"/>
          </p:cNvPicPr>
          <p:nvPr userDrawn="1"/>
        </p:nvPicPr>
        <p:blipFill>
          <a:blip r:embed="rId11"/>
          <a:srcRect/>
          <a:stretch/>
        </p:blipFill>
        <p:spPr>
          <a:xfrm>
            <a:off x="10022375" y="424540"/>
            <a:ext cx="1771233" cy="639120"/>
          </a:xfrm>
          <a:prstGeom prst="rect">
            <a:avLst/>
          </a:prstGeom>
          <a:ln>
            <a:noFill/>
          </a:ln>
          <a:effectLst/>
        </p:spPr>
      </p:pic>
    </p:spTree>
    <p:extLst>
      <p:ext uri="{BB962C8B-B14F-4D97-AF65-F5344CB8AC3E}">
        <p14:creationId xmlns:p14="http://schemas.microsoft.com/office/powerpoint/2010/main" val="168723125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38955A"/>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D756886-4902-C30B-6F35-F64A83D12049}"/>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7106648F-49A8-C379-E337-A0CD562FA45B}"/>
              </a:ext>
            </a:extLst>
          </p:cNvPr>
          <p:cNvPicPr>
            <a:picLocks noChangeAspect="1"/>
          </p:cNvPicPr>
          <p:nvPr userDrawn="1"/>
        </p:nvPicPr>
        <p:blipFill>
          <a:blip r:embed="rId11"/>
          <a:srcRect/>
          <a:stretch/>
        </p:blipFill>
        <p:spPr>
          <a:xfrm>
            <a:off x="10020324" y="426064"/>
            <a:ext cx="1775335" cy="640600"/>
          </a:xfrm>
          <a:prstGeom prst="rect">
            <a:avLst/>
          </a:prstGeom>
          <a:ln>
            <a:noFill/>
          </a:ln>
          <a:effectLst/>
        </p:spPr>
      </p:pic>
    </p:spTree>
    <p:extLst>
      <p:ext uri="{BB962C8B-B14F-4D97-AF65-F5344CB8AC3E}">
        <p14:creationId xmlns:p14="http://schemas.microsoft.com/office/powerpoint/2010/main" val="1034729206"/>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1"/>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AA8200"/>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62F301E-7076-32B4-8C07-7757FFDF3844}"/>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a:extLst>
              <a:ext uri="{FF2B5EF4-FFF2-40B4-BE49-F238E27FC236}">
                <a16:creationId xmlns:a16="http://schemas.microsoft.com/office/drawing/2014/main" id="{E384BE01-996A-7121-4FDC-3FBD1A648909}"/>
              </a:ext>
            </a:extLst>
          </p:cNvPr>
          <p:cNvPicPr>
            <a:picLocks noChangeAspect="1"/>
          </p:cNvPicPr>
          <p:nvPr userDrawn="1"/>
        </p:nvPicPr>
        <p:blipFill>
          <a:blip r:embed="rId11"/>
          <a:srcRect/>
          <a:stretch/>
        </p:blipFill>
        <p:spPr>
          <a:xfrm>
            <a:off x="10016113" y="425922"/>
            <a:ext cx="1779843" cy="642227"/>
          </a:xfrm>
          <a:prstGeom prst="rect">
            <a:avLst/>
          </a:prstGeom>
          <a:ln>
            <a:noFill/>
          </a:ln>
          <a:effectLst/>
        </p:spPr>
      </p:pic>
    </p:spTree>
    <p:extLst>
      <p:ext uri="{BB962C8B-B14F-4D97-AF65-F5344CB8AC3E}">
        <p14:creationId xmlns:p14="http://schemas.microsoft.com/office/powerpoint/2010/main" val="124261681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2C4D76"/>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A63DB7-B583-8067-F3A2-0A6AB469E0F5}"/>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484555"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a:extLst>
              <a:ext uri="{FF2B5EF4-FFF2-40B4-BE49-F238E27FC236}">
                <a16:creationId xmlns:a16="http://schemas.microsoft.com/office/drawing/2014/main" id="{5044EC2E-CA7A-FBE9-0026-F0F39B431CDD}"/>
              </a:ext>
            </a:extLst>
          </p:cNvPr>
          <p:cNvPicPr>
            <a:picLocks noChangeAspect="1"/>
          </p:cNvPicPr>
          <p:nvPr userDrawn="1"/>
        </p:nvPicPr>
        <p:blipFill>
          <a:blip r:embed="rId11"/>
          <a:srcRect/>
          <a:stretch/>
        </p:blipFill>
        <p:spPr>
          <a:xfrm>
            <a:off x="9606687" y="379230"/>
            <a:ext cx="1948334" cy="703024"/>
          </a:xfrm>
          <a:prstGeom prst="rect">
            <a:avLst/>
          </a:prstGeom>
        </p:spPr>
      </p:pic>
    </p:spTree>
    <p:extLst>
      <p:ext uri="{BB962C8B-B14F-4D97-AF65-F5344CB8AC3E}">
        <p14:creationId xmlns:p14="http://schemas.microsoft.com/office/powerpoint/2010/main" val="4237817398"/>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8E1416"/>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E1C3AA-C5D0-E80C-783F-C8175FC00FEA}"/>
              </a:ext>
            </a:extLst>
          </p:cNvPr>
          <p:cNvPicPr>
            <a:picLocks noChangeAspect="1"/>
          </p:cNvPicPr>
          <p:nvPr userDrawn="1"/>
        </p:nvPicPr>
        <p:blipFill>
          <a:blip r:embed="rId10">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A6DCB766-CDB8-E2B7-53E9-3BA87F10A787}"/>
              </a:ext>
            </a:extLst>
          </p:cNvPr>
          <p:cNvPicPr>
            <a:picLocks noChangeAspect="1"/>
          </p:cNvPicPr>
          <p:nvPr userDrawn="1"/>
        </p:nvPicPr>
        <p:blipFill>
          <a:blip r:embed="rId11"/>
          <a:srcRect/>
          <a:stretch/>
        </p:blipFill>
        <p:spPr>
          <a:xfrm>
            <a:off x="10022375" y="424540"/>
            <a:ext cx="1771233" cy="639120"/>
          </a:xfrm>
          <a:prstGeom prst="rect">
            <a:avLst/>
          </a:prstGeom>
          <a:ln>
            <a:noFill/>
          </a:ln>
          <a:effectLst/>
        </p:spPr>
      </p:pic>
    </p:spTree>
    <p:extLst>
      <p:ext uri="{BB962C8B-B14F-4D97-AF65-F5344CB8AC3E}">
        <p14:creationId xmlns:p14="http://schemas.microsoft.com/office/powerpoint/2010/main" val="2478156184"/>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jpe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7.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hyperlink" Target="http://www.codestaffing.com/careers" TargetMode="External"/><Relationship Id="rId2" Type="http://schemas.openxmlformats.org/officeDocument/2006/relationships/image" Target="../media/image35.png"/><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30.xml"/><Relationship Id="rId6" Type="http://schemas.openxmlformats.org/officeDocument/2006/relationships/hyperlink" Target="http://www.youtube.com/Codemag" TargetMode="Externa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30.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hyperlink" Target="facebook.com/codemag" TargetMode="External"/><Relationship Id="rId2" Type="http://schemas.openxmlformats.org/officeDocument/2006/relationships/hyperlink" Target="mailto:info@codemag.com" TargetMode="External"/><Relationship Id="rId1" Type="http://schemas.openxmlformats.org/officeDocument/2006/relationships/slideLayout" Target="../slideLayouts/slideLayout30.xml"/><Relationship Id="rId4" Type="http://schemas.openxmlformats.org/officeDocument/2006/relationships/hyperlink" Target="twitter.com/codemagazin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E5C01-B6B3-038C-FB09-9AC83F668B0A}"/>
              </a:ext>
            </a:extLst>
          </p:cNvPr>
          <p:cNvSpPr>
            <a:spLocks noGrp="1"/>
          </p:cNvSpPr>
          <p:nvPr>
            <p:ph type="ctrTitle"/>
          </p:nvPr>
        </p:nvSpPr>
        <p:spPr>
          <a:xfrm>
            <a:off x="1524000" y="3278368"/>
            <a:ext cx="9144000" cy="1250554"/>
          </a:xfrm>
        </p:spPr>
        <p:txBody>
          <a:bodyPr>
            <a:normAutofit fontScale="90000"/>
          </a:bodyPr>
          <a:lstStyle/>
          <a:p>
            <a:r>
              <a:rPr lang="en-US" dirty="0"/>
              <a:t>Agent Framework</a:t>
            </a:r>
            <a:br>
              <a:rPr lang="en-US" dirty="0"/>
            </a:br>
            <a:r>
              <a:rPr lang="en-US" dirty="0"/>
              <a:t>Part 2 - Orchestration</a:t>
            </a:r>
          </a:p>
        </p:txBody>
      </p:sp>
      <p:sp>
        <p:nvSpPr>
          <p:cNvPr id="3" name="Subtitle 2">
            <a:extLst>
              <a:ext uri="{FF2B5EF4-FFF2-40B4-BE49-F238E27FC236}">
                <a16:creationId xmlns:a16="http://schemas.microsoft.com/office/drawing/2014/main" id="{33BD2041-6453-94A5-D890-75FA3F893593}"/>
              </a:ext>
            </a:extLst>
          </p:cNvPr>
          <p:cNvSpPr>
            <a:spLocks noGrp="1"/>
          </p:cNvSpPr>
          <p:nvPr>
            <p:ph type="subTitle" idx="1"/>
          </p:nvPr>
        </p:nvSpPr>
        <p:spPr/>
        <p:txBody>
          <a:bodyPr/>
          <a:lstStyle/>
          <a:p>
            <a:r>
              <a:rPr lang="en-US" dirty="0"/>
              <a:t>Mike Yeager</a:t>
            </a:r>
          </a:p>
          <a:p>
            <a:r>
              <a:rPr lang="en-US" dirty="0"/>
              <a:t>CEO CODE Consulting</a:t>
            </a:r>
          </a:p>
        </p:txBody>
      </p:sp>
    </p:spTree>
    <p:extLst>
      <p:ext uri="{BB962C8B-B14F-4D97-AF65-F5344CB8AC3E}">
        <p14:creationId xmlns:p14="http://schemas.microsoft.com/office/powerpoint/2010/main" val="68309528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213946-5F9F-854A-FD8D-D01622D313D3}"/>
              </a:ext>
            </a:extLst>
          </p:cNvPr>
          <p:cNvSpPr>
            <a:spLocks noGrp="1"/>
          </p:cNvSpPr>
          <p:nvPr>
            <p:ph type="title"/>
          </p:nvPr>
        </p:nvSpPr>
        <p:spPr>
          <a:prstGeom prst="rect">
            <a:avLst/>
          </a:prstGeom>
        </p:spPr>
        <p:txBody>
          <a:bodyPr anchor="t">
            <a:normAutofit/>
          </a:bodyPr>
          <a:lstStyle/>
          <a:p>
            <a:r>
              <a:rPr lang="en-US" dirty="0"/>
              <a:t>Mike Yeager</a:t>
            </a:r>
            <a:endParaRPr lang="en-US" b="1" dirty="0">
              <a:latin typeface="Noto Sans" panose="020B0502040504020204" pitchFamily="34" charset="0"/>
              <a:ea typeface="Noto Sans" panose="020B0502040504020204" pitchFamily="34" charset="0"/>
              <a:cs typeface="Noto Sans" panose="020B0502040504020204" pitchFamily="34" charset="0"/>
            </a:endParaRPr>
          </a:p>
        </p:txBody>
      </p:sp>
      <p:sp>
        <p:nvSpPr>
          <p:cNvPr id="5" name="Content Placeholder 2">
            <a:extLst>
              <a:ext uri="{FF2B5EF4-FFF2-40B4-BE49-F238E27FC236}">
                <a16:creationId xmlns:a16="http://schemas.microsoft.com/office/drawing/2014/main" id="{35CDDDB0-CC45-DA23-2456-E0B1658782BB}"/>
              </a:ext>
            </a:extLst>
          </p:cNvPr>
          <p:cNvSpPr>
            <a:spLocks noGrp="1"/>
          </p:cNvSpPr>
          <p:nvPr>
            <p:ph idx="1"/>
          </p:nvPr>
        </p:nvSpPr>
        <p:spPr/>
        <p:txBody>
          <a:bodyPr wrap="square">
            <a:noAutofit/>
          </a:bodyPr>
          <a:lstStyle/>
          <a:p>
            <a:pPr marL="0" indent="0">
              <a:lnSpc>
                <a:spcPct val="100000"/>
              </a:lnSpc>
              <a:spcAft>
                <a:spcPts val="800"/>
              </a:spcAft>
              <a:buNone/>
            </a:pPr>
            <a:r>
              <a:rPr lang="en-US" dirty="0"/>
              <a:t>CEO</a:t>
            </a:r>
            <a:r>
              <a:rPr lang="en-US" dirty="0">
                <a:latin typeface="Noto Sans" panose="020B0502040504020204" pitchFamily="34" charset="0"/>
                <a:ea typeface="Noto Sans" panose="020B0502040504020204" pitchFamily="34" charset="0"/>
                <a:cs typeface="Noto Sans" panose="020B0502040504020204" pitchFamily="34" charset="0"/>
              </a:rPr>
              <a:t> CODE </a:t>
            </a:r>
            <a:r>
              <a:rPr lang="en-US" dirty="0"/>
              <a:t>Consulting</a:t>
            </a:r>
            <a:endParaRPr lang="en-US" dirty="0">
              <a:latin typeface="Noto Sans" panose="020B0502040504020204" pitchFamily="34" charset="0"/>
              <a:ea typeface="Noto Sans" panose="020B0502040504020204" pitchFamily="34" charset="0"/>
              <a:cs typeface="Noto Sans" panose="020B0502040504020204" pitchFamily="34" charset="0"/>
            </a:endParaRPr>
          </a:p>
          <a:p>
            <a:pPr>
              <a:lnSpc>
                <a:spcPct val="100000"/>
              </a:lnSpc>
              <a:spcAft>
                <a:spcPts val="800"/>
              </a:spcAft>
            </a:pPr>
            <a:r>
              <a:rPr lang="en-US" dirty="0"/>
              <a:t>Senior developer and manager</a:t>
            </a:r>
          </a:p>
          <a:p>
            <a:pPr>
              <a:lnSpc>
                <a:spcPct val="100000"/>
              </a:lnSpc>
              <a:spcAft>
                <a:spcPts val="800"/>
              </a:spcAft>
            </a:pPr>
            <a:r>
              <a:rPr lang="en-US" dirty="0"/>
              <a:t>AI project lead</a:t>
            </a:r>
          </a:p>
          <a:p>
            <a:pPr>
              <a:lnSpc>
                <a:spcPct val="100000"/>
              </a:lnSpc>
              <a:spcAft>
                <a:spcPts val="800"/>
              </a:spcAft>
            </a:pPr>
            <a:r>
              <a:rPr lang="en-US" dirty="0"/>
              <a:t>Writer &amp; speaker</a:t>
            </a:r>
          </a:p>
          <a:p>
            <a:pPr>
              <a:lnSpc>
                <a:spcPct val="100000"/>
              </a:lnSpc>
              <a:spcAft>
                <a:spcPts val="800"/>
              </a:spcAft>
            </a:pPr>
            <a:r>
              <a:rPr lang="en-US" dirty="0"/>
              <a:t>MS Azure contributor</a:t>
            </a:r>
          </a:p>
          <a:p>
            <a:pPr marL="0" indent="0">
              <a:lnSpc>
                <a:spcPct val="100000"/>
              </a:lnSpc>
              <a:spcAft>
                <a:spcPts val="800"/>
              </a:spcAft>
              <a:buNone/>
            </a:pPr>
            <a:endParaRPr lang="en-US" dirty="0">
              <a:latin typeface="Noto Sans" panose="020B0502040504020204" pitchFamily="34" charset="0"/>
              <a:ea typeface="Noto Sans" panose="020B0502040504020204" pitchFamily="34" charset="0"/>
              <a:cs typeface="Noto Sans" panose="020B0502040504020204" pitchFamily="34" charset="0"/>
            </a:endParaRPr>
          </a:p>
          <a:p>
            <a:pPr marL="0" indent="0">
              <a:lnSpc>
                <a:spcPct val="100000"/>
              </a:lnSpc>
              <a:spcAft>
                <a:spcPts val="800"/>
              </a:spcAft>
              <a:buNone/>
            </a:pPr>
            <a:endParaRPr lang="en-US" dirty="0">
              <a:latin typeface="Noto Sans" panose="020B0502040504020204" pitchFamily="34" charset="0"/>
              <a:ea typeface="Noto Sans" panose="020B0502040504020204" pitchFamily="34" charset="0"/>
              <a:cs typeface="Noto Sans" panose="020B0502040504020204" pitchFamily="34" charset="0"/>
            </a:endParaRPr>
          </a:p>
        </p:txBody>
      </p:sp>
      <p:pic>
        <p:nvPicPr>
          <p:cNvPr id="6" name="Picture 5">
            <a:extLst>
              <a:ext uri="{FF2B5EF4-FFF2-40B4-BE49-F238E27FC236}">
                <a16:creationId xmlns:a16="http://schemas.microsoft.com/office/drawing/2014/main" id="{83FEAD35-91D3-3D14-8614-32D20E627EA5}"/>
              </a:ext>
            </a:extLst>
          </p:cNvPr>
          <p:cNvPicPr>
            <a:picLocks noChangeAspect="1"/>
          </p:cNvPicPr>
          <p:nvPr/>
        </p:nvPicPr>
        <p:blipFill>
          <a:blip r:embed="rId2"/>
          <a:srcRect t="9705" b="9705"/>
          <a:stretch/>
        </p:blipFill>
        <p:spPr>
          <a:xfrm>
            <a:off x="7280619" y="1916447"/>
            <a:ext cx="5791200" cy="5791200"/>
          </a:xfrm>
          <a:prstGeom prst="ellipse">
            <a:avLst/>
          </a:prstGeom>
          <a:ln w="190500" cap="rnd">
            <a:noFill/>
            <a:prstDash val="solid"/>
          </a:ln>
          <a:effectLst/>
        </p:spPr>
      </p:pic>
      <p:sp>
        <p:nvSpPr>
          <p:cNvPr id="7" name="TextBox 6">
            <a:extLst>
              <a:ext uri="{FF2B5EF4-FFF2-40B4-BE49-F238E27FC236}">
                <a16:creationId xmlns:a16="http://schemas.microsoft.com/office/drawing/2014/main" id="{2134C2C1-4560-B824-3EEE-22193DEA52DB}"/>
              </a:ext>
            </a:extLst>
          </p:cNvPr>
          <p:cNvSpPr txBox="1"/>
          <p:nvPr/>
        </p:nvSpPr>
        <p:spPr>
          <a:xfrm>
            <a:off x="838200" y="4812047"/>
            <a:ext cx="5062604"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nb-NO" sz="32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myeager@codegroup.io</a:t>
            </a:r>
          </a:p>
        </p:txBody>
      </p:sp>
    </p:spTree>
    <p:extLst>
      <p:ext uri="{BB962C8B-B14F-4D97-AF65-F5344CB8AC3E}">
        <p14:creationId xmlns:p14="http://schemas.microsoft.com/office/powerpoint/2010/main" val="44563856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1B6B861-B80F-C477-CF48-A326D6C71CC8}"/>
              </a:ext>
            </a:extLst>
          </p:cNvPr>
          <p:cNvGrpSpPr/>
          <p:nvPr/>
        </p:nvGrpSpPr>
        <p:grpSpPr>
          <a:xfrm>
            <a:off x="1859228" y="2539586"/>
            <a:ext cx="8473541" cy="1702628"/>
            <a:chOff x="1754518" y="2775029"/>
            <a:chExt cx="8473541" cy="1702628"/>
          </a:xfrm>
        </p:grpSpPr>
        <p:pic>
          <p:nvPicPr>
            <p:cNvPr id="8" name="Picture 7">
              <a:extLst>
                <a:ext uri="{FF2B5EF4-FFF2-40B4-BE49-F238E27FC236}">
                  <a16:creationId xmlns:a16="http://schemas.microsoft.com/office/drawing/2014/main" id="{01B0AE49-D889-DA43-76EC-052FA8D3C8A9}"/>
                </a:ext>
              </a:extLst>
            </p:cNvPr>
            <p:cNvPicPr>
              <a:picLocks noChangeAspect="1"/>
            </p:cNvPicPr>
            <p:nvPr/>
          </p:nvPicPr>
          <p:blipFill>
            <a:blip r:embed="rId2"/>
            <a:srcRect/>
            <a:stretch/>
          </p:blipFill>
          <p:spPr>
            <a:xfrm>
              <a:off x="1754518" y="2775029"/>
              <a:ext cx="1702628" cy="1702628"/>
            </a:xfrm>
            <a:prstGeom prst="rect">
              <a:avLst/>
            </a:prstGeom>
          </p:spPr>
        </p:pic>
        <p:pic>
          <p:nvPicPr>
            <p:cNvPr id="9" name="Picture 8">
              <a:extLst>
                <a:ext uri="{FF2B5EF4-FFF2-40B4-BE49-F238E27FC236}">
                  <a16:creationId xmlns:a16="http://schemas.microsoft.com/office/drawing/2014/main" id="{3C5B3F80-9858-338B-857D-9BCC67BD1329}"/>
                </a:ext>
              </a:extLst>
            </p:cNvPr>
            <p:cNvPicPr>
              <a:picLocks noChangeAspect="1"/>
            </p:cNvPicPr>
            <p:nvPr/>
          </p:nvPicPr>
          <p:blipFill>
            <a:blip r:embed="rId3"/>
            <a:srcRect/>
            <a:stretch/>
          </p:blipFill>
          <p:spPr>
            <a:xfrm>
              <a:off x="4011489" y="2775029"/>
              <a:ext cx="1702628" cy="1702628"/>
            </a:xfrm>
            <a:prstGeom prst="rect">
              <a:avLst/>
            </a:prstGeom>
          </p:spPr>
        </p:pic>
        <p:pic>
          <p:nvPicPr>
            <p:cNvPr id="6" name="Picture 5">
              <a:extLst>
                <a:ext uri="{FF2B5EF4-FFF2-40B4-BE49-F238E27FC236}">
                  <a16:creationId xmlns:a16="http://schemas.microsoft.com/office/drawing/2014/main" id="{C2950F5A-0F27-D695-C877-3746FF6463C4}"/>
                </a:ext>
              </a:extLst>
            </p:cNvPr>
            <p:cNvPicPr>
              <a:picLocks noChangeAspect="1"/>
            </p:cNvPicPr>
            <p:nvPr/>
          </p:nvPicPr>
          <p:blipFill>
            <a:blip r:embed="rId4"/>
            <a:srcRect/>
            <a:stretch/>
          </p:blipFill>
          <p:spPr>
            <a:xfrm>
              <a:off x="6268460" y="2775029"/>
              <a:ext cx="1702628" cy="1702628"/>
            </a:xfrm>
            <a:prstGeom prst="rect">
              <a:avLst/>
            </a:prstGeom>
          </p:spPr>
        </p:pic>
        <p:pic>
          <p:nvPicPr>
            <p:cNvPr id="7" name="Picture 6">
              <a:extLst>
                <a:ext uri="{FF2B5EF4-FFF2-40B4-BE49-F238E27FC236}">
                  <a16:creationId xmlns:a16="http://schemas.microsoft.com/office/drawing/2014/main" id="{8A9C37BE-12E3-7FD3-C1C2-B43C773EB0C1}"/>
                </a:ext>
              </a:extLst>
            </p:cNvPr>
            <p:cNvPicPr>
              <a:picLocks noChangeAspect="1"/>
            </p:cNvPicPr>
            <p:nvPr/>
          </p:nvPicPr>
          <p:blipFill>
            <a:blip r:embed="rId5"/>
            <a:srcRect/>
            <a:stretch/>
          </p:blipFill>
          <p:spPr>
            <a:xfrm>
              <a:off x="8525431" y="2775029"/>
              <a:ext cx="1702628" cy="1702628"/>
            </a:xfrm>
            <a:prstGeom prst="rect">
              <a:avLst/>
            </a:prstGeom>
          </p:spPr>
        </p:pic>
      </p:grpSp>
      <p:pic>
        <p:nvPicPr>
          <p:cNvPr id="3" name="Picture 2">
            <a:extLst>
              <a:ext uri="{FF2B5EF4-FFF2-40B4-BE49-F238E27FC236}">
                <a16:creationId xmlns:a16="http://schemas.microsoft.com/office/drawing/2014/main" id="{BC9242A6-5FE7-F8DF-D678-174A54FC556B}"/>
              </a:ext>
            </a:extLst>
          </p:cNvPr>
          <p:cNvPicPr>
            <a:picLocks noChangeAspect="1"/>
          </p:cNvPicPr>
          <p:nvPr/>
        </p:nvPicPr>
        <p:blipFill>
          <a:blip r:embed="rId6"/>
          <a:srcRect/>
          <a:stretch/>
        </p:blipFill>
        <p:spPr>
          <a:xfrm>
            <a:off x="3081593" y="365801"/>
            <a:ext cx="6028812" cy="200805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91460760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07B1846-7897-8820-17D6-4F95C878E3F4}"/>
              </a:ext>
            </a:extLst>
          </p:cNvPr>
          <p:cNvSpPr>
            <a:spLocks noGrp="1"/>
          </p:cNvSpPr>
          <p:nvPr>
            <p:ph type="title"/>
          </p:nvPr>
        </p:nvSpPr>
        <p:spPr>
          <a:prstGeom prst="rect">
            <a:avLst/>
          </a:prstGeom>
        </p:spPr>
        <p:txBody>
          <a:bodyPr anchor="t">
            <a:normAutofit/>
          </a:bodyPr>
          <a:lstStyle/>
          <a:p>
            <a:r>
              <a:rPr lang="en-US" b="1" dirty="0">
                <a:latin typeface="Noto Sans" panose="020B0502040504020204" pitchFamily="34" charset="0"/>
                <a:ea typeface="Noto Sans" panose="020B0502040504020204" pitchFamily="34" charset="0"/>
                <a:cs typeface="Noto Sans" panose="020B0502040504020204" pitchFamily="34" charset="0"/>
              </a:rPr>
              <a:t>About CODE Consulting </a:t>
            </a:r>
          </a:p>
        </p:txBody>
      </p:sp>
      <p:sp>
        <p:nvSpPr>
          <p:cNvPr id="7" name="Content Placeholder 2">
            <a:extLst>
              <a:ext uri="{FF2B5EF4-FFF2-40B4-BE49-F238E27FC236}">
                <a16:creationId xmlns:a16="http://schemas.microsoft.com/office/drawing/2014/main" id="{91E1018B-60FA-F2E3-D1F5-706B339165D6}"/>
              </a:ext>
            </a:extLst>
          </p:cNvPr>
          <p:cNvSpPr>
            <a:spLocks noGrp="1"/>
          </p:cNvSpPr>
          <p:nvPr>
            <p:ph idx="4294967295"/>
          </p:nvPr>
        </p:nvSpPr>
        <p:spPr>
          <a:xfrm>
            <a:off x="3724562" y="1462088"/>
            <a:ext cx="8111838" cy="4351337"/>
          </a:xfrm>
        </p:spPr>
        <p:txBody>
          <a:bodyPr wrap="square">
            <a:noAutofit/>
          </a:bodyPr>
          <a:lstStyle/>
          <a:p>
            <a:pPr marL="0" indent="0">
              <a:lnSpc>
                <a:spcPct val="100000"/>
              </a:lnSpc>
              <a:spcAft>
                <a:spcPts val="800"/>
              </a:spcAft>
              <a:buNone/>
            </a:pPr>
            <a:r>
              <a:rPr lang="en-US" sz="2400" dirty="0">
                <a:latin typeface="Noto Sans" panose="020B0502040504020204" pitchFamily="34" charset="0"/>
                <a:ea typeface="Noto Sans" panose="020B0502040504020204" pitchFamily="34" charset="0"/>
                <a:cs typeface="Noto Sans" panose="020B0502040504020204" pitchFamily="34" charset="0"/>
              </a:rPr>
              <a:t>Custom software development</a:t>
            </a:r>
            <a:br>
              <a:rPr lang="en-US" sz="2400" dirty="0">
                <a:latin typeface="Noto Sans" panose="020B0502040504020204" pitchFamily="34" charset="0"/>
                <a:ea typeface="Noto Sans" panose="020B0502040504020204" pitchFamily="34" charset="0"/>
                <a:cs typeface="Noto Sans" panose="020B0502040504020204" pitchFamily="34" charset="0"/>
              </a:rPr>
            </a:br>
            <a:r>
              <a:rPr lang="en-US" sz="2400" dirty="0">
                <a:latin typeface="Noto Sans" panose="020B0502040504020204" pitchFamily="34" charset="0"/>
                <a:ea typeface="Noto Sans" panose="020B0502040504020204" pitchFamily="34" charset="0"/>
                <a:cs typeface="Noto Sans" panose="020B0502040504020204" pitchFamily="34" charset="0"/>
              </a:rPr>
              <a:t>(web, mobile, desktop and cloud platform apps)</a:t>
            </a:r>
          </a:p>
          <a:p>
            <a:pPr marL="0" indent="0">
              <a:lnSpc>
                <a:spcPct val="100000"/>
              </a:lnSpc>
              <a:spcAft>
                <a:spcPts val="800"/>
              </a:spcAft>
              <a:buNone/>
            </a:pPr>
            <a:r>
              <a:rPr lang="en-US" sz="2400" dirty="0">
                <a:latin typeface="Noto Sans" panose="020B0502040504020204" pitchFamily="34" charset="0"/>
                <a:ea typeface="Noto Sans" panose="020B0502040504020204" pitchFamily="34" charset="0"/>
                <a:cs typeface="Noto Sans" panose="020B0502040504020204" pitchFamily="34" charset="0"/>
              </a:rPr>
              <a:t>Copilot development, AI, GPT, Azure </a:t>
            </a:r>
            <a:r>
              <a:rPr lang="en-US" sz="2400" dirty="0" err="1">
                <a:latin typeface="Noto Sans" panose="020B0502040504020204" pitchFamily="34" charset="0"/>
                <a:ea typeface="Noto Sans" panose="020B0502040504020204" pitchFamily="34" charset="0"/>
                <a:cs typeface="Noto Sans" panose="020B0502040504020204" pitchFamily="34" charset="0"/>
              </a:rPr>
              <a:t>OpenAI</a:t>
            </a:r>
            <a:r>
              <a:rPr lang="en-US" sz="2400" dirty="0">
                <a:latin typeface="Noto Sans" panose="020B0502040504020204" pitchFamily="34" charset="0"/>
                <a:ea typeface="Noto Sans" panose="020B0502040504020204" pitchFamily="34" charset="0"/>
                <a:cs typeface="Noto Sans" panose="020B0502040504020204" pitchFamily="34" charset="0"/>
              </a:rPr>
              <a:t>,</a:t>
            </a:r>
            <a:br>
              <a:rPr lang="en-US" sz="2400" dirty="0">
                <a:latin typeface="Noto Sans" panose="020B0502040504020204" pitchFamily="34" charset="0"/>
                <a:ea typeface="Noto Sans" panose="020B0502040504020204" pitchFamily="34" charset="0"/>
                <a:cs typeface="Noto Sans" panose="020B0502040504020204" pitchFamily="34" charset="0"/>
              </a:rPr>
            </a:br>
            <a:r>
              <a:rPr lang="en-US" sz="2400" dirty="0">
                <a:latin typeface="Noto Sans" panose="020B0502040504020204" pitchFamily="34" charset="0"/>
                <a:ea typeface="Noto Sans" panose="020B0502040504020204" pitchFamily="34" charset="0"/>
                <a:cs typeface="Noto Sans" panose="020B0502040504020204" pitchFamily="34" charset="0"/>
              </a:rPr>
              <a:t>machine learning, and more…</a:t>
            </a:r>
          </a:p>
          <a:p>
            <a:pPr marL="0" indent="0">
              <a:lnSpc>
                <a:spcPct val="100000"/>
              </a:lnSpc>
              <a:spcAft>
                <a:spcPts val="800"/>
              </a:spcAft>
              <a:buNone/>
            </a:pPr>
            <a:r>
              <a:rPr lang="en-US" sz="2400" dirty="0">
                <a:latin typeface="Noto Sans" panose="020B0502040504020204" pitchFamily="34" charset="0"/>
                <a:ea typeface="Noto Sans" panose="020B0502040504020204" pitchFamily="34" charset="0"/>
                <a:cs typeface="Noto Sans" panose="020B0502040504020204" pitchFamily="34" charset="0"/>
              </a:rPr>
              <a:t>Project rescue (cloud, web, mobile, Windows, …)</a:t>
            </a:r>
          </a:p>
          <a:p>
            <a:pPr marL="0" indent="0">
              <a:lnSpc>
                <a:spcPct val="100000"/>
              </a:lnSpc>
              <a:spcAft>
                <a:spcPts val="800"/>
              </a:spcAft>
              <a:buNone/>
            </a:pPr>
            <a:r>
              <a:rPr lang="en-US" sz="2400" dirty="0">
                <a:latin typeface="Noto Sans" panose="020B0502040504020204" pitchFamily="34" charset="0"/>
                <a:ea typeface="Noto Sans" panose="020B0502040504020204" pitchFamily="34" charset="0"/>
                <a:cs typeface="Noto Sans" panose="020B0502040504020204" pitchFamily="34" charset="0"/>
              </a:rPr>
              <a:t>App modernization (primarily Visual FoxPro)</a:t>
            </a:r>
          </a:p>
          <a:p>
            <a:pPr marL="0" indent="0">
              <a:lnSpc>
                <a:spcPct val="100000"/>
              </a:lnSpc>
              <a:spcAft>
                <a:spcPts val="800"/>
              </a:spcAft>
              <a:buNone/>
            </a:pPr>
            <a:r>
              <a:rPr lang="en-US" sz="2400" dirty="0">
                <a:latin typeface="Noto Sans" panose="020B0502040504020204" pitchFamily="34" charset="0"/>
                <a:ea typeface="Noto Sans" panose="020B0502040504020204" pitchFamily="34" charset="0"/>
                <a:cs typeface="Noto Sans" panose="020B0502040504020204" pitchFamily="34" charset="0"/>
              </a:rPr>
              <a:t>Support &amp; maintenance for existing applications</a:t>
            </a:r>
          </a:p>
        </p:txBody>
      </p:sp>
      <p:sp>
        <p:nvSpPr>
          <p:cNvPr id="2" name="Rectangle 1">
            <a:extLst>
              <a:ext uri="{FF2B5EF4-FFF2-40B4-BE49-F238E27FC236}">
                <a16:creationId xmlns:a16="http://schemas.microsoft.com/office/drawing/2014/main" id="{B7264B53-65CE-053E-450F-F346A651B5E1}"/>
              </a:ext>
            </a:extLst>
          </p:cNvPr>
          <p:cNvSpPr/>
          <p:nvPr/>
        </p:nvSpPr>
        <p:spPr>
          <a:xfrm>
            <a:off x="914401" y="1346200"/>
            <a:ext cx="2501900" cy="4610100"/>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EB074F27-5A7B-7650-0371-E8D4FE44410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1819" t="26868" r="10171" b="29037"/>
          <a:stretch/>
        </p:blipFill>
        <p:spPr>
          <a:xfrm>
            <a:off x="1222663" y="1592702"/>
            <a:ext cx="1755793" cy="444827"/>
          </a:xfrm>
          <a:prstGeom prst="rect">
            <a:avLst/>
          </a:prstGeom>
          <a:noFill/>
        </p:spPr>
      </p:pic>
      <p:pic>
        <p:nvPicPr>
          <p:cNvPr id="4" name="Picture 3">
            <a:extLst>
              <a:ext uri="{FF2B5EF4-FFF2-40B4-BE49-F238E27FC236}">
                <a16:creationId xmlns:a16="http://schemas.microsoft.com/office/drawing/2014/main" id="{5186F2E7-C033-ABE4-18D4-C442A74B2C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22662" y="2942956"/>
            <a:ext cx="1755793" cy="435244"/>
          </a:xfrm>
          <a:prstGeom prst="rect">
            <a:avLst/>
          </a:prstGeom>
        </p:spPr>
      </p:pic>
      <p:pic>
        <p:nvPicPr>
          <p:cNvPr id="5" name="Picture 4">
            <a:extLst>
              <a:ext uri="{FF2B5EF4-FFF2-40B4-BE49-F238E27FC236}">
                <a16:creationId xmlns:a16="http://schemas.microsoft.com/office/drawing/2014/main" id="{E19EF4D6-F169-ED12-3EA4-B972DCE7242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16715" y="3570761"/>
            <a:ext cx="1994866" cy="435244"/>
          </a:xfrm>
          <a:prstGeom prst="rect">
            <a:avLst/>
          </a:prstGeom>
        </p:spPr>
      </p:pic>
      <p:pic>
        <p:nvPicPr>
          <p:cNvPr id="9" name="Picture 8">
            <a:extLst>
              <a:ext uri="{FF2B5EF4-FFF2-40B4-BE49-F238E27FC236}">
                <a16:creationId xmlns:a16="http://schemas.microsoft.com/office/drawing/2014/main" id="{535F3B8E-316B-692A-A317-B1081183190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46462" y="4895516"/>
            <a:ext cx="914279" cy="478989"/>
          </a:xfrm>
          <a:prstGeom prst="rect">
            <a:avLst/>
          </a:prstGeom>
        </p:spPr>
      </p:pic>
      <p:pic>
        <p:nvPicPr>
          <p:cNvPr id="10" name="Picture 9">
            <a:extLst>
              <a:ext uri="{FF2B5EF4-FFF2-40B4-BE49-F238E27FC236}">
                <a16:creationId xmlns:a16="http://schemas.microsoft.com/office/drawing/2014/main" id="{6F1A3DA7-E7C0-DD57-BBEF-F5339E85D6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22663" y="2205234"/>
            <a:ext cx="1755793" cy="476016"/>
          </a:xfrm>
          <a:prstGeom prst="rect">
            <a:avLst/>
          </a:prstGeom>
        </p:spPr>
      </p:pic>
      <p:pic>
        <p:nvPicPr>
          <p:cNvPr id="11" name="Picture 10">
            <a:extLst>
              <a:ext uri="{FF2B5EF4-FFF2-40B4-BE49-F238E27FC236}">
                <a16:creationId xmlns:a16="http://schemas.microsoft.com/office/drawing/2014/main" id="{940A64F9-92EE-EAAB-548D-EA25EA6867C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56088" y="4787472"/>
            <a:ext cx="946894" cy="946894"/>
          </a:xfrm>
          <a:prstGeom prst="rect">
            <a:avLst/>
          </a:prstGeom>
        </p:spPr>
      </p:pic>
      <p:pic>
        <p:nvPicPr>
          <p:cNvPr id="12" name="Graphic 11">
            <a:extLst>
              <a:ext uri="{FF2B5EF4-FFF2-40B4-BE49-F238E27FC236}">
                <a16:creationId xmlns:a16="http://schemas.microsoft.com/office/drawing/2014/main" id="{65C3DBB9-CB29-545B-C14A-C50E09B86F52}"/>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389282" y="4167267"/>
            <a:ext cx="1479612" cy="458943"/>
          </a:xfrm>
          <a:prstGeom prst="rect">
            <a:avLst/>
          </a:prstGeom>
        </p:spPr>
      </p:pic>
    </p:spTree>
    <p:extLst>
      <p:ext uri="{BB962C8B-B14F-4D97-AF65-F5344CB8AC3E}">
        <p14:creationId xmlns:p14="http://schemas.microsoft.com/office/powerpoint/2010/main" val="257933584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09398-638C-4D4E-B7BE-A130635C03F0}"/>
              </a:ext>
            </a:extLst>
          </p:cNvPr>
          <p:cNvSpPr>
            <a:spLocks noGrp="1"/>
          </p:cNvSpPr>
          <p:nvPr>
            <p:ph type="title"/>
          </p:nvPr>
        </p:nvSpPr>
        <p:spPr/>
        <p:txBody>
          <a:bodyPr/>
          <a:lstStyle/>
          <a:p>
            <a:r>
              <a:rPr lang="en-US" dirty="0"/>
              <a:t>Agenda</a:t>
            </a:r>
          </a:p>
        </p:txBody>
      </p:sp>
      <p:sp>
        <p:nvSpPr>
          <p:cNvPr id="4" name="Content Placeholder 3">
            <a:extLst>
              <a:ext uri="{FF2B5EF4-FFF2-40B4-BE49-F238E27FC236}">
                <a16:creationId xmlns:a16="http://schemas.microsoft.com/office/drawing/2014/main" id="{2528CC84-640E-C6A0-105D-75C1397E719B}"/>
              </a:ext>
            </a:extLst>
          </p:cNvPr>
          <p:cNvSpPr>
            <a:spLocks noGrp="1"/>
          </p:cNvSpPr>
          <p:nvPr>
            <p:ph idx="1"/>
          </p:nvPr>
        </p:nvSpPr>
        <p:spPr>
          <a:xfrm>
            <a:off x="838200" y="1461483"/>
            <a:ext cx="10515600" cy="4528256"/>
          </a:xfrm>
        </p:spPr>
        <p:txBody>
          <a:bodyPr>
            <a:normAutofit/>
          </a:bodyPr>
          <a:lstStyle/>
          <a:p>
            <a:r>
              <a:rPr lang="en-US" dirty="0"/>
              <a:t>Brief review of agents in AF</a:t>
            </a:r>
          </a:p>
          <a:p>
            <a:r>
              <a:rPr lang="en-US" dirty="0"/>
              <a:t>NuGet packages</a:t>
            </a:r>
          </a:p>
          <a:p>
            <a:r>
              <a:rPr lang="en-US" dirty="0"/>
              <a:t>Orchestrations</a:t>
            </a:r>
          </a:p>
          <a:p>
            <a:r>
              <a:rPr lang="en-US" dirty="0"/>
              <a:t>Manual workflows</a:t>
            </a:r>
          </a:p>
          <a:p>
            <a:r>
              <a:rPr lang="en-US" dirty="0"/>
              <a:t>Demo</a:t>
            </a:r>
          </a:p>
          <a:p>
            <a:r>
              <a:rPr lang="en-US" dirty="0"/>
              <a:t>Q &amp; A</a:t>
            </a:r>
          </a:p>
        </p:txBody>
      </p:sp>
    </p:spTree>
    <p:extLst>
      <p:ext uri="{BB962C8B-B14F-4D97-AF65-F5344CB8AC3E}">
        <p14:creationId xmlns:p14="http://schemas.microsoft.com/office/powerpoint/2010/main" val="27652367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FE496-57DC-2004-CC10-E815C2B85CD0}"/>
              </a:ext>
            </a:extLst>
          </p:cNvPr>
          <p:cNvSpPr>
            <a:spLocks noGrp="1"/>
          </p:cNvSpPr>
          <p:nvPr>
            <p:ph type="title"/>
          </p:nvPr>
        </p:nvSpPr>
        <p:spPr/>
        <p:txBody>
          <a:bodyPr/>
          <a:lstStyle/>
          <a:p>
            <a:r>
              <a:rPr lang="en-US" dirty="0"/>
              <a:t>What are Agents Anyway?</a:t>
            </a:r>
          </a:p>
        </p:txBody>
      </p:sp>
      <p:sp>
        <p:nvSpPr>
          <p:cNvPr id="3" name="Content Placeholder 2">
            <a:extLst>
              <a:ext uri="{FF2B5EF4-FFF2-40B4-BE49-F238E27FC236}">
                <a16:creationId xmlns:a16="http://schemas.microsoft.com/office/drawing/2014/main" id="{51089AB0-D2A5-8D2A-F80D-2C66274A2A0A}"/>
              </a:ext>
            </a:extLst>
          </p:cNvPr>
          <p:cNvSpPr>
            <a:spLocks noGrp="1"/>
          </p:cNvSpPr>
          <p:nvPr>
            <p:ph idx="1"/>
          </p:nvPr>
        </p:nvSpPr>
        <p:spPr>
          <a:xfrm>
            <a:off x="838200" y="1461482"/>
            <a:ext cx="10515600" cy="5031391"/>
          </a:xfrm>
        </p:spPr>
        <p:txBody>
          <a:bodyPr>
            <a:normAutofit/>
          </a:bodyPr>
          <a:lstStyle/>
          <a:p>
            <a:r>
              <a:rPr lang="en-US" dirty="0"/>
              <a:t>Agents have goals</a:t>
            </a:r>
          </a:p>
          <a:p>
            <a:r>
              <a:rPr lang="en-US" dirty="0"/>
              <a:t>Agents autonomously pursue goals </a:t>
            </a:r>
            <a:r>
              <a:rPr lang="en-US" sz="2000" dirty="0"/>
              <a:t>(tasks are handed off to agents)</a:t>
            </a:r>
          </a:p>
          <a:p>
            <a:r>
              <a:rPr lang="en-US" dirty="0"/>
              <a:t>Agents can be given:</a:t>
            </a:r>
          </a:p>
          <a:p>
            <a:pPr lvl="1"/>
            <a:r>
              <a:rPr lang="en-US" dirty="0"/>
              <a:t>Tools </a:t>
            </a:r>
          </a:p>
          <a:p>
            <a:pPr lvl="1"/>
            <a:r>
              <a:rPr lang="en-US" dirty="0"/>
              <a:t>Memory</a:t>
            </a:r>
          </a:p>
          <a:p>
            <a:pPr lvl="1"/>
            <a:r>
              <a:rPr lang="en-US" dirty="0"/>
              <a:t>Reasoning/Deep Reasoning</a:t>
            </a:r>
          </a:p>
          <a:p>
            <a:pPr lvl="1"/>
            <a:r>
              <a:rPr lang="en-US" dirty="0"/>
              <a:t>Planning/Orchestration/Workflows</a:t>
            </a:r>
          </a:p>
          <a:p>
            <a:r>
              <a:rPr lang="en-US" dirty="0"/>
              <a:t>Agents can have sub-agents</a:t>
            </a:r>
          </a:p>
          <a:p>
            <a:r>
              <a:rPr lang="en-US" dirty="0"/>
              <a:t>Specialized Agents can be more effective than a single, generalized chat session</a:t>
            </a:r>
          </a:p>
          <a:p>
            <a:pPr lvl="1"/>
            <a:endParaRPr lang="en-US" dirty="0"/>
          </a:p>
        </p:txBody>
      </p:sp>
    </p:spTree>
    <p:extLst>
      <p:ext uri="{BB962C8B-B14F-4D97-AF65-F5344CB8AC3E}">
        <p14:creationId xmlns:p14="http://schemas.microsoft.com/office/powerpoint/2010/main" val="106620035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D5DA4-8E73-D0D7-44B2-5EA0A430F875}"/>
              </a:ext>
            </a:extLst>
          </p:cNvPr>
          <p:cNvSpPr>
            <a:spLocks noGrp="1"/>
          </p:cNvSpPr>
          <p:nvPr>
            <p:ph type="title"/>
          </p:nvPr>
        </p:nvSpPr>
        <p:spPr/>
        <p:txBody>
          <a:bodyPr>
            <a:normAutofit/>
          </a:bodyPr>
          <a:lstStyle/>
          <a:p>
            <a:r>
              <a:rPr lang="en-US" dirty="0"/>
              <a:t>Agent </a:t>
            </a:r>
            <a:r>
              <a:rPr lang="en-US" dirty="0" err="1"/>
              <a:t>Fwk</a:t>
            </a:r>
            <a:r>
              <a:rPr lang="en-US" dirty="0"/>
              <a:t> - Why do I care</a:t>
            </a:r>
          </a:p>
        </p:txBody>
      </p:sp>
      <p:sp>
        <p:nvSpPr>
          <p:cNvPr id="3" name="Content Placeholder 2">
            <a:extLst>
              <a:ext uri="{FF2B5EF4-FFF2-40B4-BE49-F238E27FC236}">
                <a16:creationId xmlns:a16="http://schemas.microsoft.com/office/drawing/2014/main" id="{CEEA0958-203D-A5AD-AE89-0568EB7BBF6E}"/>
              </a:ext>
            </a:extLst>
          </p:cNvPr>
          <p:cNvSpPr>
            <a:spLocks noGrp="1"/>
          </p:cNvSpPr>
          <p:nvPr>
            <p:ph idx="1"/>
          </p:nvPr>
        </p:nvSpPr>
        <p:spPr/>
        <p:txBody>
          <a:bodyPr/>
          <a:lstStyle/>
          <a:p>
            <a:r>
              <a:rPr lang="en-US" dirty="0"/>
              <a:t>Coding to specific APIs locks you in</a:t>
            </a:r>
          </a:p>
          <a:p>
            <a:r>
              <a:rPr lang="en-US" dirty="0"/>
              <a:t>Different providers (both cloud and local) provide different feature sets</a:t>
            </a:r>
          </a:p>
          <a:p>
            <a:r>
              <a:rPr lang="en-US" dirty="0"/>
              <a:t>You have to learn different APIs for different tasks</a:t>
            </a:r>
          </a:p>
          <a:p>
            <a:r>
              <a:rPr lang="en-US" dirty="0"/>
              <a:t>It’s tedious to write low level code for things like streaming responses or maintaining chat history</a:t>
            </a:r>
          </a:p>
          <a:p>
            <a:r>
              <a:rPr lang="en-US" dirty="0"/>
              <a:t>You can use things like caching and telemetry fairly easily</a:t>
            </a:r>
          </a:p>
          <a:p>
            <a:endParaRPr lang="en-US" dirty="0"/>
          </a:p>
        </p:txBody>
      </p:sp>
    </p:spTree>
    <p:extLst>
      <p:ext uri="{BB962C8B-B14F-4D97-AF65-F5344CB8AC3E}">
        <p14:creationId xmlns:p14="http://schemas.microsoft.com/office/powerpoint/2010/main" val="136441273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5D02F-C135-C4DA-D83E-0ACBF3BE2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F686F-3D17-1698-5EE1-F4641841EACA}"/>
              </a:ext>
            </a:extLst>
          </p:cNvPr>
          <p:cNvSpPr>
            <a:spLocks noGrp="1"/>
          </p:cNvSpPr>
          <p:nvPr>
            <p:ph type="title"/>
          </p:nvPr>
        </p:nvSpPr>
        <p:spPr/>
        <p:txBody>
          <a:bodyPr>
            <a:normAutofit/>
          </a:bodyPr>
          <a:lstStyle/>
          <a:p>
            <a:r>
              <a:rPr lang="en-US" dirty="0"/>
              <a:t>What is Microsoft.Agents.AI?</a:t>
            </a:r>
          </a:p>
        </p:txBody>
      </p:sp>
      <p:sp>
        <p:nvSpPr>
          <p:cNvPr id="3" name="Content Placeholder 2">
            <a:extLst>
              <a:ext uri="{FF2B5EF4-FFF2-40B4-BE49-F238E27FC236}">
                <a16:creationId xmlns:a16="http://schemas.microsoft.com/office/drawing/2014/main" id="{8701F87C-97C8-7AD0-5C4A-EA423F1B19F4}"/>
              </a:ext>
            </a:extLst>
          </p:cNvPr>
          <p:cNvSpPr>
            <a:spLocks noGrp="1"/>
          </p:cNvSpPr>
          <p:nvPr>
            <p:ph idx="1"/>
          </p:nvPr>
        </p:nvSpPr>
        <p:spPr>
          <a:xfrm>
            <a:off x="838200" y="1461482"/>
            <a:ext cx="10515600" cy="4670869"/>
          </a:xfrm>
        </p:spPr>
        <p:txBody>
          <a:bodyPr>
            <a:normAutofit/>
          </a:bodyPr>
          <a:lstStyle/>
          <a:p>
            <a:r>
              <a:rPr lang="en-US" dirty="0"/>
              <a:t>Successor to Semantic Kernel and </a:t>
            </a:r>
            <a:r>
              <a:rPr lang="en-US" dirty="0" err="1"/>
              <a:t>AutoGen</a:t>
            </a:r>
            <a:r>
              <a:rPr lang="en-US" dirty="0"/>
              <a:t> </a:t>
            </a:r>
            <a:r>
              <a:rPr lang="en-US" sz="2400" dirty="0"/>
              <a:t>(High Level)</a:t>
            </a:r>
          </a:p>
          <a:p>
            <a:pPr lvl="1"/>
            <a:r>
              <a:rPr lang="en-US" dirty="0"/>
              <a:t>Implements abstractions &amp; providers in Microsoft.Extensions.AI</a:t>
            </a:r>
          </a:p>
          <a:p>
            <a:pPr lvl="1"/>
            <a:r>
              <a:rPr lang="en-US" dirty="0"/>
              <a:t>.NET and Python</a:t>
            </a:r>
          </a:p>
          <a:p>
            <a:pPr lvl="1"/>
            <a:r>
              <a:rPr lang="en-US" dirty="0"/>
              <a:t>Structured output</a:t>
            </a:r>
          </a:p>
          <a:p>
            <a:pPr lvl="1"/>
            <a:r>
              <a:rPr lang="en-US" dirty="0"/>
              <a:t>Workflows</a:t>
            </a:r>
          </a:p>
          <a:p>
            <a:pPr lvl="1"/>
            <a:r>
              <a:rPr lang="en-US" dirty="0"/>
              <a:t>Background responses </a:t>
            </a:r>
            <a:r>
              <a:rPr lang="en-US" sz="2000" dirty="0"/>
              <a:t>(long running workflows)</a:t>
            </a:r>
          </a:p>
          <a:p>
            <a:r>
              <a:rPr lang="en-US" dirty="0"/>
              <a:t>When available:</a:t>
            </a:r>
          </a:p>
          <a:p>
            <a:pPr lvl="1"/>
            <a:r>
              <a:rPr lang="en-US" dirty="0"/>
              <a:t>Code interpreters</a:t>
            </a:r>
          </a:p>
          <a:p>
            <a:pPr lvl="1"/>
            <a:r>
              <a:rPr lang="en-US" dirty="0"/>
              <a:t>File search</a:t>
            </a:r>
          </a:p>
          <a:p>
            <a:pPr lvl="1"/>
            <a:r>
              <a:rPr lang="en-US" dirty="0"/>
              <a:t>Integrations </a:t>
            </a:r>
            <a:r>
              <a:rPr lang="en-US" sz="2000" dirty="0"/>
              <a:t>(M365, Azure Functions, A2A Hosting, Dev UI, Purview, etc.) </a:t>
            </a:r>
            <a:endParaRPr lang="en-US" dirty="0"/>
          </a:p>
          <a:p>
            <a:pPr lvl="1"/>
            <a:endParaRPr lang="en-US" dirty="0"/>
          </a:p>
          <a:p>
            <a:pPr lvl="1"/>
            <a:endParaRPr lang="en-US" dirty="0"/>
          </a:p>
        </p:txBody>
      </p:sp>
    </p:spTree>
    <p:extLst>
      <p:ext uri="{BB962C8B-B14F-4D97-AF65-F5344CB8AC3E}">
        <p14:creationId xmlns:p14="http://schemas.microsoft.com/office/powerpoint/2010/main" val="102133624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91172-514C-3985-76F7-2E7E41BC36E4}"/>
              </a:ext>
            </a:extLst>
          </p:cNvPr>
          <p:cNvSpPr>
            <a:spLocks noGrp="1"/>
          </p:cNvSpPr>
          <p:nvPr>
            <p:ph type="title"/>
          </p:nvPr>
        </p:nvSpPr>
        <p:spPr/>
        <p:txBody>
          <a:bodyPr/>
          <a:lstStyle/>
          <a:p>
            <a:r>
              <a:rPr lang="en-US" dirty="0"/>
              <a:t>NuGet Packages</a:t>
            </a:r>
          </a:p>
        </p:txBody>
      </p:sp>
      <p:pic>
        <p:nvPicPr>
          <p:cNvPr id="8" name="Picture 7" descr="The image displays a list of software package names and their respective versions.&#10;&#10;AI-generated content may be incorrect.">
            <a:extLst>
              <a:ext uri="{FF2B5EF4-FFF2-40B4-BE49-F238E27FC236}">
                <a16:creationId xmlns:a16="http://schemas.microsoft.com/office/drawing/2014/main" id="{AC9EECE0-6680-23EB-A068-4429652590E0}"/>
              </a:ext>
            </a:extLst>
          </p:cNvPr>
          <p:cNvPicPr>
            <a:picLocks noChangeAspect="1"/>
          </p:cNvPicPr>
          <p:nvPr/>
        </p:nvPicPr>
        <p:blipFill>
          <a:blip r:embed="rId2"/>
          <a:stretch>
            <a:fillRect/>
          </a:stretch>
        </p:blipFill>
        <p:spPr>
          <a:xfrm>
            <a:off x="3301365" y="2197844"/>
            <a:ext cx="4041446" cy="2242351"/>
          </a:xfrm>
          <a:prstGeom prst="rect">
            <a:avLst/>
          </a:prstGeom>
        </p:spPr>
      </p:pic>
    </p:spTree>
    <p:extLst>
      <p:ext uri="{BB962C8B-B14F-4D97-AF65-F5344CB8AC3E}">
        <p14:creationId xmlns:p14="http://schemas.microsoft.com/office/powerpoint/2010/main" val="67411340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9B7A8-B6B1-FBB0-2159-FC7C4613118F}"/>
              </a:ext>
            </a:extLst>
          </p:cNvPr>
          <p:cNvSpPr>
            <a:spLocks noGrp="1"/>
          </p:cNvSpPr>
          <p:nvPr>
            <p:ph type="title"/>
          </p:nvPr>
        </p:nvSpPr>
        <p:spPr/>
        <p:txBody>
          <a:bodyPr/>
          <a:lstStyle/>
          <a:p>
            <a:r>
              <a:rPr lang="en-US" dirty="0"/>
              <a:t>Orchestrations</a:t>
            </a:r>
          </a:p>
        </p:txBody>
      </p:sp>
      <p:sp>
        <p:nvSpPr>
          <p:cNvPr id="3" name="Content Placeholder 2">
            <a:extLst>
              <a:ext uri="{FF2B5EF4-FFF2-40B4-BE49-F238E27FC236}">
                <a16:creationId xmlns:a16="http://schemas.microsoft.com/office/drawing/2014/main" id="{76E1F3C5-A1C8-91C1-0FD3-A19346D8CFD7}"/>
              </a:ext>
            </a:extLst>
          </p:cNvPr>
          <p:cNvSpPr>
            <a:spLocks noGrp="1"/>
          </p:cNvSpPr>
          <p:nvPr>
            <p:ph idx="1"/>
          </p:nvPr>
        </p:nvSpPr>
        <p:spPr/>
        <p:txBody>
          <a:bodyPr>
            <a:normAutofit/>
          </a:bodyPr>
          <a:lstStyle/>
          <a:p>
            <a:r>
              <a:rPr lang="en-US" dirty="0"/>
              <a:t>Orchestration are canned workflows that allow you to orchestrate multiple agents in a single conversation, and define how messages should be passed between them.</a:t>
            </a:r>
          </a:p>
          <a:p>
            <a:pPr marL="0" indent="0">
              <a:buNone/>
            </a:pPr>
            <a:endParaRPr lang="en-US" dirty="0"/>
          </a:p>
        </p:txBody>
      </p:sp>
    </p:spTree>
    <p:extLst>
      <p:ext uri="{BB962C8B-B14F-4D97-AF65-F5344CB8AC3E}">
        <p14:creationId xmlns:p14="http://schemas.microsoft.com/office/powerpoint/2010/main" val="248822489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D2F43-D456-5ED2-B66A-AEFB49D00021}"/>
              </a:ext>
            </a:extLst>
          </p:cNvPr>
          <p:cNvSpPr>
            <a:spLocks noGrp="1"/>
          </p:cNvSpPr>
          <p:nvPr>
            <p:ph type="title"/>
          </p:nvPr>
        </p:nvSpPr>
        <p:spPr/>
        <p:txBody>
          <a:bodyPr/>
          <a:lstStyle/>
          <a:p>
            <a:r>
              <a:rPr lang="en-US" dirty="0"/>
              <a:t>Orchestrations in the box</a:t>
            </a:r>
          </a:p>
        </p:txBody>
      </p:sp>
      <p:sp>
        <p:nvSpPr>
          <p:cNvPr id="3" name="Content Placeholder 2">
            <a:extLst>
              <a:ext uri="{FF2B5EF4-FFF2-40B4-BE49-F238E27FC236}">
                <a16:creationId xmlns:a16="http://schemas.microsoft.com/office/drawing/2014/main" id="{5077B3CC-8A7A-0D5A-A4A6-9EE8485698D2}"/>
              </a:ext>
            </a:extLst>
          </p:cNvPr>
          <p:cNvSpPr>
            <a:spLocks noGrp="1"/>
          </p:cNvSpPr>
          <p:nvPr>
            <p:ph idx="1"/>
          </p:nvPr>
        </p:nvSpPr>
        <p:spPr/>
        <p:txBody>
          <a:bodyPr/>
          <a:lstStyle/>
          <a:p>
            <a:r>
              <a:rPr lang="en-US" dirty="0"/>
              <a:t>Sequential</a:t>
            </a:r>
          </a:p>
          <a:p>
            <a:r>
              <a:rPr lang="en-US" dirty="0"/>
              <a:t>Concurrent</a:t>
            </a:r>
          </a:p>
          <a:p>
            <a:r>
              <a:rPr lang="en-US" dirty="0"/>
              <a:t>Handoff - Agents decide if they hand off to another agent</a:t>
            </a:r>
          </a:p>
          <a:p>
            <a:r>
              <a:rPr lang="en-US" dirty="0"/>
              <a:t>Group Chat – Manager decides which agent goes next</a:t>
            </a:r>
          </a:p>
          <a:p>
            <a:r>
              <a:rPr lang="en-US" dirty="0" err="1"/>
              <a:t>Magentic</a:t>
            </a:r>
            <a:r>
              <a:rPr lang="en-US" dirty="0"/>
              <a:t> – Magic!, context shared across agents, plans, manages</a:t>
            </a:r>
          </a:p>
          <a:p>
            <a:endParaRPr lang="en-US" dirty="0"/>
          </a:p>
        </p:txBody>
      </p:sp>
    </p:spTree>
    <p:extLst>
      <p:ext uri="{BB962C8B-B14F-4D97-AF65-F5344CB8AC3E}">
        <p14:creationId xmlns:p14="http://schemas.microsoft.com/office/powerpoint/2010/main" val="401452802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2640-1675-C88F-A8C8-A1B419D3E975}"/>
              </a:ext>
            </a:extLst>
          </p:cNvPr>
          <p:cNvSpPr>
            <a:spLocks noGrp="1"/>
          </p:cNvSpPr>
          <p:nvPr>
            <p:ph type="title"/>
          </p:nvPr>
        </p:nvSpPr>
        <p:spPr>
          <a:xfrm>
            <a:off x="337752" y="454770"/>
            <a:ext cx="9687697" cy="703024"/>
          </a:xfrm>
        </p:spPr>
        <p:txBody>
          <a:bodyPr>
            <a:normAutofit fontScale="90000"/>
          </a:bodyPr>
          <a:lstStyle/>
          <a:p>
            <a:r>
              <a:rPr lang="en-US" dirty="0"/>
              <a:t>Executors, Edges, and Message Flows</a:t>
            </a:r>
          </a:p>
        </p:txBody>
      </p:sp>
      <p:sp>
        <p:nvSpPr>
          <p:cNvPr id="3" name="Content Placeholder 2">
            <a:extLst>
              <a:ext uri="{FF2B5EF4-FFF2-40B4-BE49-F238E27FC236}">
                <a16:creationId xmlns:a16="http://schemas.microsoft.com/office/drawing/2014/main" id="{16C69988-F596-7286-C59D-ADB791F015BB}"/>
              </a:ext>
            </a:extLst>
          </p:cNvPr>
          <p:cNvSpPr>
            <a:spLocks noGrp="1"/>
          </p:cNvSpPr>
          <p:nvPr>
            <p:ph idx="1"/>
          </p:nvPr>
        </p:nvSpPr>
        <p:spPr>
          <a:xfrm>
            <a:off x="838200" y="1700380"/>
            <a:ext cx="10515600" cy="4351338"/>
          </a:xfrm>
        </p:spPr>
        <p:txBody>
          <a:bodyPr/>
          <a:lstStyle/>
          <a:p>
            <a:r>
              <a:rPr lang="en-US" dirty="0"/>
              <a:t>Custom workflows require you to define your executors, edges and message flows, giving you full control over the flow of the conversation and how agents interact with each other, but also require more work to set up.</a:t>
            </a:r>
          </a:p>
          <a:p>
            <a:endParaRPr lang="en-US" dirty="0"/>
          </a:p>
        </p:txBody>
      </p:sp>
    </p:spTree>
    <p:extLst>
      <p:ext uri="{BB962C8B-B14F-4D97-AF65-F5344CB8AC3E}">
        <p14:creationId xmlns:p14="http://schemas.microsoft.com/office/powerpoint/2010/main" val="404861292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974D8-112C-CF39-C60C-10B36059BA51}"/>
              </a:ext>
            </a:extLst>
          </p:cNvPr>
          <p:cNvSpPr>
            <a:spLocks noGrp="1"/>
          </p:cNvSpPr>
          <p:nvPr>
            <p:ph type="title"/>
          </p:nvPr>
        </p:nvSpPr>
        <p:spPr/>
        <p:txBody>
          <a:bodyPr/>
          <a:lstStyle/>
          <a:p>
            <a:r>
              <a:rPr lang="en-US" dirty="0"/>
              <a:t>Executors</a:t>
            </a:r>
          </a:p>
        </p:txBody>
      </p:sp>
      <p:sp>
        <p:nvSpPr>
          <p:cNvPr id="3" name="Content Placeholder 2">
            <a:extLst>
              <a:ext uri="{FF2B5EF4-FFF2-40B4-BE49-F238E27FC236}">
                <a16:creationId xmlns:a16="http://schemas.microsoft.com/office/drawing/2014/main" id="{B854CE12-872B-043C-84CA-4B7ADE6A034C}"/>
              </a:ext>
            </a:extLst>
          </p:cNvPr>
          <p:cNvSpPr>
            <a:spLocks noGrp="1"/>
          </p:cNvSpPr>
          <p:nvPr>
            <p:ph idx="1"/>
          </p:nvPr>
        </p:nvSpPr>
        <p:spPr/>
        <p:txBody>
          <a:bodyPr/>
          <a:lstStyle/>
          <a:p>
            <a:r>
              <a:rPr lang="en-US" dirty="0"/>
              <a:t>Typed message processors</a:t>
            </a:r>
          </a:p>
          <a:p>
            <a:r>
              <a:rPr lang="en-US" dirty="0"/>
              <a:t>Can be an AI Agent or custom code</a:t>
            </a:r>
          </a:p>
          <a:p>
            <a:r>
              <a:rPr lang="en-US" dirty="0"/>
              <a:t>Custom executors are ‘hooks’ in the message flows</a:t>
            </a:r>
          </a:p>
        </p:txBody>
      </p:sp>
    </p:spTree>
    <p:extLst>
      <p:ext uri="{BB962C8B-B14F-4D97-AF65-F5344CB8AC3E}">
        <p14:creationId xmlns:p14="http://schemas.microsoft.com/office/powerpoint/2010/main" val="336504252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10787-D435-BD1D-B3FE-5862BF435459}"/>
              </a:ext>
            </a:extLst>
          </p:cNvPr>
          <p:cNvSpPr>
            <a:spLocks noGrp="1"/>
          </p:cNvSpPr>
          <p:nvPr>
            <p:ph type="title"/>
          </p:nvPr>
        </p:nvSpPr>
        <p:spPr/>
        <p:txBody>
          <a:bodyPr/>
          <a:lstStyle/>
          <a:p>
            <a:r>
              <a:rPr lang="en-US" dirty="0"/>
              <a:t>Edges</a:t>
            </a:r>
          </a:p>
        </p:txBody>
      </p:sp>
      <p:sp>
        <p:nvSpPr>
          <p:cNvPr id="3" name="Content Placeholder 2">
            <a:extLst>
              <a:ext uri="{FF2B5EF4-FFF2-40B4-BE49-F238E27FC236}">
                <a16:creationId xmlns:a16="http://schemas.microsoft.com/office/drawing/2014/main" id="{8BE708EB-FFD8-B954-00F9-E815BDD8A7B4}"/>
              </a:ext>
            </a:extLst>
          </p:cNvPr>
          <p:cNvSpPr>
            <a:spLocks noGrp="1"/>
          </p:cNvSpPr>
          <p:nvPr>
            <p:ph idx="1"/>
          </p:nvPr>
        </p:nvSpPr>
        <p:spPr/>
        <p:txBody>
          <a:bodyPr/>
          <a:lstStyle/>
          <a:p>
            <a:r>
              <a:rPr lang="en-US" dirty="0"/>
              <a:t>Route messages between executors</a:t>
            </a:r>
          </a:p>
          <a:p>
            <a:r>
              <a:rPr lang="en-US" dirty="0"/>
              <a:t>Types</a:t>
            </a:r>
          </a:p>
          <a:p>
            <a:pPr lvl="1"/>
            <a:r>
              <a:rPr lang="en-US" dirty="0"/>
              <a:t>Direct</a:t>
            </a:r>
          </a:p>
          <a:p>
            <a:pPr lvl="1"/>
            <a:r>
              <a:rPr lang="en-US" dirty="0"/>
              <a:t>Conditional</a:t>
            </a:r>
          </a:p>
          <a:p>
            <a:pPr lvl="1"/>
            <a:r>
              <a:rPr lang="en-US" dirty="0"/>
              <a:t>Switch-case</a:t>
            </a:r>
          </a:p>
          <a:p>
            <a:pPr lvl="1"/>
            <a:r>
              <a:rPr lang="en-US" dirty="0"/>
              <a:t>Fan-out</a:t>
            </a:r>
          </a:p>
          <a:p>
            <a:pPr lvl="1"/>
            <a:r>
              <a:rPr lang="en-US" dirty="0"/>
              <a:t>Fan-in</a:t>
            </a:r>
          </a:p>
        </p:txBody>
      </p:sp>
    </p:spTree>
    <p:extLst>
      <p:ext uri="{BB962C8B-B14F-4D97-AF65-F5344CB8AC3E}">
        <p14:creationId xmlns:p14="http://schemas.microsoft.com/office/powerpoint/2010/main" val="404661444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7B815-416C-F1C0-08D3-5500940616F9}"/>
              </a:ext>
            </a:extLst>
          </p:cNvPr>
          <p:cNvSpPr>
            <a:spLocks noGrp="1"/>
          </p:cNvSpPr>
          <p:nvPr>
            <p:ph type="title"/>
          </p:nvPr>
        </p:nvSpPr>
        <p:spPr/>
        <p:txBody>
          <a:bodyPr/>
          <a:lstStyle/>
          <a:p>
            <a:r>
              <a:rPr lang="en-US" dirty="0"/>
              <a:t>Message Flows</a:t>
            </a:r>
          </a:p>
        </p:txBody>
      </p:sp>
      <p:sp>
        <p:nvSpPr>
          <p:cNvPr id="3" name="Content Placeholder 2">
            <a:extLst>
              <a:ext uri="{FF2B5EF4-FFF2-40B4-BE49-F238E27FC236}">
                <a16:creationId xmlns:a16="http://schemas.microsoft.com/office/drawing/2014/main" id="{69B8E274-4732-7048-DF1E-EA16ED5537E9}"/>
              </a:ext>
            </a:extLst>
          </p:cNvPr>
          <p:cNvSpPr>
            <a:spLocks noGrp="1"/>
          </p:cNvSpPr>
          <p:nvPr>
            <p:ph idx="1"/>
          </p:nvPr>
        </p:nvSpPr>
        <p:spPr/>
        <p:txBody>
          <a:bodyPr/>
          <a:lstStyle/>
          <a:p>
            <a:r>
              <a:rPr lang="en-US" dirty="0"/>
              <a:t>Messages are strongly typed</a:t>
            </a:r>
          </a:p>
          <a:p>
            <a:r>
              <a:rPr lang="en-US" dirty="0"/>
              <a:t>Messages are Sent or Handled</a:t>
            </a:r>
          </a:p>
        </p:txBody>
      </p:sp>
    </p:spTree>
    <p:extLst>
      <p:ext uri="{BB962C8B-B14F-4D97-AF65-F5344CB8AC3E}">
        <p14:creationId xmlns:p14="http://schemas.microsoft.com/office/powerpoint/2010/main" val="215527425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69416B-4EA6-59C2-38DE-D60EC7023C9E}"/>
              </a:ext>
            </a:extLst>
          </p:cNvPr>
          <p:cNvSpPr>
            <a:spLocks noGrp="1"/>
          </p:cNvSpPr>
          <p:nvPr>
            <p:ph type="title"/>
          </p:nvPr>
        </p:nvSpPr>
        <p:spPr/>
        <p:txBody>
          <a:bodyPr/>
          <a:lstStyle/>
          <a:p>
            <a:r>
              <a:rPr lang="en-US" dirty="0"/>
              <a:t>Demo</a:t>
            </a:r>
          </a:p>
        </p:txBody>
      </p:sp>
    </p:spTree>
    <p:extLst>
      <p:ext uri="{BB962C8B-B14F-4D97-AF65-F5344CB8AC3E}">
        <p14:creationId xmlns:p14="http://schemas.microsoft.com/office/powerpoint/2010/main" val="314948297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1318-2B71-3F70-1803-273588613EF4}"/>
              </a:ext>
            </a:extLst>
          </p:cNvPr>
          <p:cNvSpPr>
            <a:spLocks noGrp="1"/>
          </p:cNvSpPr>
          <p:nvPr>
            <p:ph type="title"/>
          </p:nvPr>
        </p:nvSpPr>
        <p:spPr>
          <a:prstGeom prst="rect">
            <a:avLst/>
          </a:prstGeom>
        </p:spPr>
        <p:txBody>
          <a:bodyPr anchor="t">
            <a:normAutofit/>
          </a:bodyPr>
          <a:lstStyle/>
          <a:p>
            <a:r>
              <a:rPr lang="en-US" b="1" dirty="0">
                <a:latin typeface="Noto Sans" panose="020B0502040504020204" pitchFamily="34" charset="0"/>
                <a:ea typeface="Noto Sans" panose="020B0502040504020204" pitchFamily="34" charset="0"/>
                <a:cs typeface="Noto Sans" panose="020B0502040504020204" pitchFamily="34" charset="0"/>
              </a:rPr>
              <a:t>Free Subscription</a:t>
            </a:r>
          </a:p>
        </p:txBody>
      </p:sp>
      <p:sp>
        <p:nvSpPr>
          <p:cNvPr id="3" name="Content Placeholder 2">
            <a:extLst>
              <a:ext uri="{FF2B5EF4-FFF2-40B4-BE49-F238E27FC236}">
                <a16:creationId xmlns:a16="http://schemas.microsoft.com/office/drawing/2014/main" id="{265A2590-09D6-D033-25D2-70C805090ACC}"/>
              </a:ext>
            </a:extLst>
          </p:cNvPr>
          <p:cNvSpPr>
            <a:spLocks noGrp="1"/>
          </p:cNvSpPr>
          <p:nvPr>
            <p:ph idx="1"/>
          </p:nvPr>
        </p:nvSpPr>
        <p:spPr>
          <a:xfrm>
            <a:off x="838200" y="1696747"/>
            <a:ext cx="10515600" cy="4116074"/>
          </a:xfrm>
        </p:spPr>
        <p:txBody>
          <a:bodyPr wrap="square">
            <a:noAutofit/>
          </a:bodyPr>
          <a:lstStyle/>
          <a:p>
            <a:pPr marL="0" indent="0">
              <a:lnSpc>
                <a:spcPct val="100000"/>
              </a:lnSpc>
              <a:spcAft>
                <a:spcPts val="2400"/>
              </a:spcAft>
              <a:buNone/>
            </a:pPr>
            <a:r>
              <a:rPr lang="en-US" dirty="0">
                <a:latin typeface="Noto Sans" panose="020B0502040504020204" pitchFamily="34" charset="0"/>
                <a:ea typeface="Noto Sans" panose="020B0502040504020204" pitchFamily="34" charset="0"/>
                <a:cs typeface="Noto Sans" panose="020B0502040504020204" pitchFamily="34" charset="0"/>
              </a:rPr>
              <a:t>The leading software development magazine,</a:t>
            </a:r>
            <a:br>
              <a:rPr lang="en-US" dirty="0">
                <a:latin typeface="Noto Sans" panose="020B0502040504020204" pitchFamily="34" charset="0"/>
                <a:ea typeface="Noto Sans" panose="020B0502040504020204" pitchFamily="34" charset="0"/>
                <a:cs typeface="Noto Sans" panose="020B0502040504020204" pitchFamily="34" charset="0"/>
              </a:rPr>
            </a:br>
            <a:r>
              <a:rPr lang="en-US" dirty="0">
                <a:latin typeface="Noto Sans" panose="020B0502040504020204" pitchFamily="34" charset="0"/>
                <a:ea typeface="Noto Sans" panose="020B0502040504020204" pitchFamily="34" charset="0"/>
                <a:cs typeface="Noto Sans" panose="020B0502040504020204" pitchFamily="34" charset="0"/>
              </a:rPr>
              <a:t>written by expert developers for developers.</a:t>
            </a:r>
          </a:p>
          <a:p>
            <a:pPr marL="0" indent="0">
              <a:lnSpc>
                <a:spcPct val="100000"/>
              </a:lnSpc>
              <a:spcAft>
                <a:spcPts val="2400"/>
              </a:spcAft>
              <a:buNone/>
            </a:pPr>
            <a:r>
              <a:rPr lang="en-US" dirty="0">
                <a:latin typeface="Noto Sans" panose="020B0502040504020204" pitchFamily="34" charset="0"/>
                <a:ea typeface="Noto Sans" panose="020B0502040504020204" pitchFamily="34" charset="0"/>
                <a:cs typeface="Noto Sans" panose="020B0502040504020204" pitchFamily="34" charset="0"/>
              </a:rPr>
              <a:t>All registered attendees will receive a</a:t>
            </a:r>
            <a:br>
              <a:rPr lang="en-US" dirty="0">
                <a:latin typeface="Noto Sans" panose="020B0502040504020204" pitchFamily="34" charset="0"/>
                <a:ea typeface="Noto Sans" panose="020B0502040504020204" pitchFamily="34" charset="0"/>
                <a:cs typeface="Noto Sans" panose="020B0502040504020204" pitchFamily="34" charset="0"/>
              </a:rPr>
            </a:br>
            <a:r>
              <a:rPr lang="en-US" b="1" dirty="0">
                <a:latin typeface="Noto Sans" panose="020B0502040504020204" pitchFamily="34" charset="0"/>
                <a:ea typeface="Noto Sans" panose="020B0502040504020204" pitchFamily="34" charset="0"/>
                <a:cs typeface="Noto Sans" panose="020B0502040504020204" pitchFamily="34" charset="0"/>
              </a:rPr>
              <a:t>free digital subscription</a:t>
            </a:r>
            <a:r>
              <a:rPr lang="en-US" dirty="0">
                <a:latin typeface="Noto Sans" panose="020B0502040504020204" pitchFamily="34" charset="0"/>
                <a:ea typeface="Noto Sans" panose="020B0502040504020204" pitchFamily="34" charset="0"/>
                <a:cs typeface="Noto Sans" panose="020B0502040504020204" pitchFamily="34" charset="0"/>
              </a:rPr>
              <a:t> to CODE Magazine!</a:t>
            </a:r>
          </a:p>
          <a:p>
            <a:pPr marL="0" indent="0">
              <a:lnSpc>
                <a:spcPct val="100000"/>
              </a:lnSpc>
              <a:spcAft>
                <a:spcPts val="2400"/>
              </a:spcAft>
              <a:buNone/>
            </a:pPr>
            <a:r>
              <a:rPr lang="en-US" dirty="0">
                <a:latin typeface="Noto Sans" panose="020B0502040504020204" pitchFamily="34" charset="0"/>
                <a:ea typeface="Noto Sans" panose="020B0502040504020204" pitchFamily="34" charset="0"/>
                <a:cs typeface="Noto Sans" panose="020B0502040504020204" pitchFamily="34" charset="0"/>
              </a:rPr>
              <a:t>Share this link to our free subscription:</a:t>
            </a:r>
            <a:br>
              <a:rPr lang="en-US" dirty="0">
                <a:latin typeface="Noto Sans" panose="020B0502040504020204" pitchFamily="34" charset="0"/>
                <a:ea typeface="Noto Sans" panose="020B0502040504020204" pitchFamily="34" charset="0"/>
                <a:cs typeface="Noto Sans" panose="020B0502040504020204" pitchFamily="34" charset="0"/>
              </a:rPr>
            </a:br>
            <a:endParaRPr lang="en-US" sz="3200" b="1" u="sng" dirty="0">
              <a:latin typeface="Noto Sans" panose="020B0502040504020204" pitchFamily="34" charset="0"/>
              <a:ea typeface="Noto Sans" panose="020B0502040504020204" pitchFamily="34" charset="0"/>
              <a:cs typeface="Noto Sans" panose="020B0502040504020204" pitchFamily="34" charset="0"/>
            </a:endParaRPr>
          </a:p>
        </p:txBody>
      </p:sp>
      <p:pic>
        <p:nvPicPr>
          <p:cNvPr id="4" name="Picture 3">
            <a:extLst>
              <a:ext uri="{FF2B5EF4-FFF2-40B4-BE49-F238E27FC236}">
                <a16:creationId xmlns:a16="http://schemas.microsoft.com/office/drawing/2014/main" id="{B45A41BF-13C3-4D98-5765-BC99A4896D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769572">
            <a:off x="8743467" y="3129403"/>
            <a:ext cx="5195269" cy="6726943"/>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CAD17BD9-D5B9-F251-0BD8-869353F9CE3C}"/>
              </a:ext>
            </a:extLst>
          </p:cNvPr>
          <p:cNvPicPr>
            <a:picLocks noChangeAspect="1"/>
          </p:cNvPicPr>
          <p:nvPr/>
        </p:nvPicPr>
        <p:blipFill>
          <a:blip r:embed="rId3"/>
          <a:srcRect/>
          <a:stretch/>
        </p:blipFill>
        <p:spPr>
          <a:xfrm rot="1575145">
            <a:off x="9291684" y="4078298"/>
            <a:ext cx="5266251" cy="68188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68831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4.79167E-6 3.33333E-6 L -4.79167E-6 -0.26621 " pathEditMode="relative" rAng="0" ptsTypes="AA">
                                      <p:cBhvr>
                                        <p:cTn id="6" dur="1000" fill="hold"/>
                                        <p:tgtEl>
                                          <p:spTgt spid="5"/>
                                        </p:tgtEl>
                                        <p:attrNameLst>
                                          <p:attrName>ppt_x</p:attrName>
                                          <p:attrName>ppt_y</p:attrName>
                                        </p:attrNameLst>
                                      </p:cBhvr>
                                      <p:rCtr x="0" y="-13310"/>
                                    </p:animMotion>
                                  </p:childTnLst>
                                </p:cTn>
                              </p:par>
                              <p:par>
                                <p:cTn id="7" presetID="0" presetClass="path" presetSubtype="0" accel="50000" decel="50000" fill="hold" nodeType="withEffect">
                                  <p:stCondLst>
                                    <p:cond delay="0"/>
                                  </p:stCondLst>
                                  <p:childTnLst>
                                    <p:animMotion origin="layout" path="M 1.66667E-6 7.40741E-7 L 1.66667E-6 -0.20787 " pathEditMode="relative" rAng="0" ptsTypes="AA">
                                      <p:cBhvr>
                                        <p:cTn id="8" dur="1000" fill="hold"/>
                                        <p:tgtEl>
                                          <p:spTgt spid="4"/>
                                        </p:tgtEl>
                                        <p:attrNameLst>
                                          <p:attrName>ppt_x</p:attrName>
                                          <p:attrName>ppt_y</p:attrName>
                                        </p:attrNameLst>
                                      </p:cBhvr>
                                      <p:rCtr x="0" y="-103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FEE26-243D-3894-9229-B0168C2BA67E}"/>
              </a:ext>
            </a:extLst>
          </p:cNvPr>
          <p:cNvSpPr>
            <a:spLocks noGrp="1"/>
          </p:cNvSpPr>
          <p:nvPr>
            <p:ph type="title"/>
          </p:nvPr>
        </p:nvSpPr>
        <p:spPr/>
        <p:txBody>
          <a:bodyPr/>
          <a:lstStyle/>
          <a:p>
            <a:r>
              <a:rPr lang="en-US" dirty="0"/>
              <a:t>Please take the survey</a:t>
            </a:r>
          </a:p>
        </p:txBody>
      </p:sp>
      <p:sp>
        <p:nvSpPr>
          <p:cNvPr id="3" name="Content Placeholder 2">
            <a:extLst>
              <a:ext uri="{FF2B5EF4-FFF2-40B4-BE49-F238E27FC236}">
                <a16:creationId xmlns:a16="http://schemas.microsoft.com/office/drawing/2014/main" id="{93C7D044-ECFD-B1D5-4F13-EDFE2F08E607}"/>
              </a:ext>
            </a:extLst>
          </p:cNvPr>
          <p:cNvSpPr>
            <a:spLocks noGrp="1"/>
          </p:cNvSpPr>
          <p:nvPr>
            <p:ph idx="1"/>
          </p:nvPr>
        </p:nvSpPr>
        <p:spPr>
          <a:xfrm>
            <a:off x="838200" y="3084723"/>
            <a:ext cx="10515600" cy="2728098"/>
          </a:xfrm>
        </p:spPr>
        <p:txBody>
          <a:bodyPr/>
          <a:lstStyle/>
          <a:p>
            <a:pPr marL="0" indent="0">
              <a:spcAft>
                <a:spcPts val="2400"/>
              </a:spcAft>
              <a:buNone/>
            </a:pPr>
            <a:endParaRPr lang="en-US" sz="3200" b="1" u="sng" dirty="0"/>
          </a:p>
        </p:txBody>
      </p:sp>
    </p:spTree>
    <p:extLst>
      <p:ext uri="{BB962C8B-B14F-4D97-AF65-F5344CB8AC3E}">
        <p14:creationId xmlns:p14="http://schemas.microsoft.com/office/powerpoint/2010/main" val="273293289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07B1846-7897-8820-17D6-4F95C878E3F4}"/>
              </a:ext>
            </a:extLst>
          </p:cNvPr>
          <p:cNvSpPr>
            <a:spLocks noGrp="1"/>
          </p:cNvSpPr>
          <p:nvPr>
            <p:ph type="title" idx="4294967295"/>
          </p:nvPr>
        </p:nvSpPr>
        <p:spPr>
          <a:xfrm>
            <a:off x="0" y="365125"/>
            <a:ext cx="8928100" cy="703263"/>
          </a:xfrm>
          <a:prstGeom prst="rect">
            <a:avLst/>
          </a:prstGeom>
        </p:spPr>
        <p:txBody>
          <a:bodyPr anchor="t">
            <a:normAutofit/>
          </a:bodyPr>
          <a:lstStyle/>
          <a:p>
            <a:r>
              <a:rPr lang="en-US" b="1" dirty="0">
                <a:latin typeface="Noto Sans" panose="020B0502040504020204" pitchFamily="34" charset="0"/>
                <a:ea typeface="Noto Sans" panose="020B0502040504020204" pitchFamily="34" charset="0"/>
                <a:cs typeface="Noto Sans" panose="020B0502040504020204" pitchFamily="34" charset="0"/>
              </a:rPr>
              <a:t>AI Executive Briefings</a:t>
            </a:r>
          </a:p>
        </p:txBody>
      </p:sp>
      <p:sp>
        <p:nvSpPr>
          <p:cNvPr id="7" name="Content Placeholder 2">
            <a:extLst>
              <a:ext uri="{FF2B5EF4-FFF2-40B4-BE49-F238E27FC236}">
                <a16:creationId xmlns:a16="http://schemas.microsoft.com/office/drawing/2014/main" id="{91E1018B-60FA-F2E3-D1F5-706B339165D6}"/>
              </a:ext>
            </a:extLst>
          </p:cNvPr>
          <p:cNvSpPr>
            <a:spLocks noGrp="1"/>
          </p:cNvSpPr>
          <p:nvPr>
            <p:ph idx="4294967295"/>
          </p:nvPr>
        </p:nvSpPr>
        <p:spPr>
          <a:xfrm>
            <a:off x="0" y="1462088"/>
            <a:ext cx="10515600" cy="4351337"/>
          </a:xfrm>
        </p:spPr>
        <p:txBody>
          <a:bodyPr wrap="square">
            <a:noAutofit/>
          </a:bodyPr>
          <a:lstStyle/>
          <a:p>
            <a:pPr marL="0" indent="0">
              <a:lnSpc>
                <a:spcPct val="100000"/>
              </a:lnSpc>
              <a:spcAft>
                <a:spcPts val="800"/>
              </a:spcAft>
              <a:buNone/>
            </a:pPr>
            <a:r>
              <a:rPr lang="en-US" dirty="0">
                <a:latin typeface="Noto Sans" panose="020B0502040504020204" pitchFamily="34" charset="0"/>
                <a:ea typeface="Noto Sans" panose="020B0502040504020204" pitchFamily="34" charset="0"/>
                <a:cs typeface="Noto Sans" panose="020B0502040504020204" pitchFamily="34" charset="0"/>
              </a:rPr>
              <a:t>Check out our new Executive Briefing offer!</a:t>
            </a:r>
          </a:p>
          <a:p>
            <a:pPr marL="0" indent="0">
              <a:lnSpc>
                <a:spcPct val="100000"/>
              </a:lnSpc>
              <a:spcAft>
                <a:spcPts val="800"/>
              </a:spcAft>
              <a:buNone/>
            </a:pPr>
            <a:r>
              <a:rPr lang="en-US" dirty="0">
                <a:latin typeface="Noto Sans" panose="020B0502040504020204" pitchFamily="34" charset="0"/>
                <a:ea typeface="Noto Sans" panose="020B0502040504020204" pitchFamily="34" charset="0"/>
                <a:cs typeface="Noto Sans" panose="020B0502040504020204" pitchFamily="34" charset="0"/>
              </a:rPr>
              <a:t>We can help with your AI needs</a:t>
            </a:r>
          </a:p>
          <a:p>
            <a:pPr marL="0" indent="0">
              <a:lnSpc>
                <a:spcPct val="100000"/>
              </a:lnSpc>
              <a:spcAft>
                <a:spcPts val="800"/>
              </a:spcAft>
              <a:buNone/>
            </a:pPr>
            <a:r>
              <a:rPr lang="en-US" dirty="0">
                <a:latin typeface="Noto Sans" panose="020B0502040504020204" pitchFamily="34" charset="0"/>
                <a:ea typeface="Noto Sans" panose="020B0502040504020204" pitchFamily="34" charset="0"/>
                <a:cs typeface="Noto Sans" panose="020B0502040504020204" pitchFamily="34" charset="0"/>
              </a:rPr>
              <a:t>What does AI mean for you?</a:t>
            </a:r>
          </a:p>
          <a:p>
            <a:pPr marL="0" indent="0">
              <a:lnSpc>
                <a:spcPct val="100000"/>
              </a:lnSpc>
              <a:spcAft>
                <a:spcPts val="800"/>
              </a:spcAft>
              <a:buNone/>
            </a:pPr>
            <a:endParaRPr lang="en-US" dirty="0">
              <a:latin typeface="Noto Sans" panose="020B0502040504020204" pitchFamily="34" charset="0"/>
              <a:ea typeface="Noto Sans" panose="020B0502040504020204" pitchFamily="34" charset="0"/>
              <a:cs typeface="Noto Sans" panose="020B0502040504020204" pitchFamily="34" charset="0"/>
            </a:endParaRPr>
          </a:p>
          <a:p>
            <a:pPr marL="0" indent="0">
              <a:lnSpc>
                <a:spcPct val="100000"/>
              </a:lnSpc>
              <a:spcAft>
                <a:spcPts val="800"/>
              </a:spcAft>
              <a:buNone/>
            </a:pPr>
            <a:r>
              <a:rPr lang="en-US" sz="3200" b="1" u="sng" dirty="0">
                <a:latin typeface="Noto Sans" panose="020B0502040504020204" pitchFamily="34" charset="0"/>
                <a:ea typeface="Noto Sans" panose="020B0502040504020204" pitchFamily="34" charset="0"/>
                <a:cs typeface="Noto Sans" panose="020B0502040504020204" pitchFamily="34" charset="0"/>
              </a:rPr>
              <a:t>codemag.com/AI</a:t>
            </a:r>
            <a:br>
              <a:rPr lang="en-US" sz="3200" b="1" u="sng" dirty="0">
                <a:latin typeface="Noto Sans" panose="020B0502040504020204" pitchFamily="34" charset="0"/>
                <a:ea typeface="Noto Sans" panose="020B0502040504020204" pitchFamily="34" charset="0"/>
                <a:cs typeface="Noto Sans" panose="020B0502040504020204" pitchFamily="34" charset="0"/>
              </a:rPr>
            </a:br>
            <a:r>
              <a:rPr lang="en-US" sz="3200" b="1" u="sng" dirty="0">
                <a:latin typeface="Noto Sans" panose="020B0502040504020204" pitchFamily="34" charset="0"/>
                <a:ea typeface="Noto Sans" panose="020B0502040504020204" pitchFamily="34" charset="0"/>
                <a:cs typeface="Noto Sans" panose="020B0502040504020204" pitchFamily="34" charset="0"/>
              </a:rPr>
              <a:t>codemag.com/</a:t>
            </a:r>
            <a:r>
              <a:rPr lang="en-US" sz="3200" b="1" u="sng" dirty="0" err="1">
                <a:latin typeface="Noto Sans" panose="020B0502040504020204" pitchFamily="34" charset="0"/>
                <a:ea typeface="Noto Sans" panose="020B0502040504020204" pitchFamily="34" charset="0"/>
                <a:cs typeface="Noto Sans" panose="020B0502040504020204" pitchFamily="34" charset="0"/>
              </a:rPr>
              <a:t>ExecutiveBriefing</a:t>
            </a:r>
            <a:endParaRPr lang="en-US" sz="3200" b="1" u="sng" dirty="0">
              <a:latin typeface="Noto Sans" panose="020B0502040504020204" pitchFamily="34" charset="0"/>
              <a:ea typeface="Noto Sans" panose="020B0502040504020204" pitchFamily="34" charset="0"/>
              <a:cs typeface="Noto Sans" panose="020B0502040504020204" pitchFamily="34" charset="0"/>
            </a:endParaRPr>
          </a:p>
        </p:txBody>
      </p:sp>
      <p:pic>
        <p:nvPicPr>
          <p:cNvPr id="8" name="Picture 2">
            <a:extLst>
              <a:ext uri="{FF2B5EF4-FFF2-40B4-BE49-F238E27FC236}">
                <a16:creationId xmlns:a16="http://schemas.microsoft.com/office/drawing/2014/main" id="{55E1299F-309B-71D0-5A9A-A0FF180EC1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75413" y="1607186"/>
            <a:ext cx="4684788" cy="4684788"/>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01413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050EA9-9AE8-7ABA-8900-C3B0120F0D4C}"/>
              </a:ext>
            </a:extLst>
          </p:cNvPr>
          <p:cNvSpPr>
            <a:spLocks noGrp="1"/>
          </p:cNvSpPr>
          <p:nvPr>
            <p:ph type="title"/>
          </p:nvPr>
        </p:nvSpPr>
        <p:spPr>
          <a:prstGeom prst="rect">
            <a:avLst/>
          </a:prstGeom>
        </p:spPr>
        <p:txBody>
          <a:bodyPr anchor="t">
            <a:normAutofit/>
          </a:bodyPr>
          <a:lstStyle/>
          <a:p>
            <a:r>
              <a:rPr lang="en-US" b="1" dirty="0">
                <a:latin typeface="Noto Sans" panose="020B0502040504020204" pitchFamily="34" charset="0"/>
                <a:ea typeface="Noto Sans" panose="020B0502040504020204" pitchFamily="34" charset="0"/>
                <a:cs typeface="Noto Sans" panose="020B0502040504020204" pitchFamily="34" charset="0"/>
              </a:rPr>
              <a:t>CODE Staffing</a:t>
            </a:r>
          </a:p>
        </p:txBody>
      </p:sp>
      <p:sp>
        <p:nvSpPr>
          <p:cNvPr id="5" name="Content Placeholder 2">
            <a:extLst>
              <a:ext uri="{FF2B5EF4-FFF2-40B4-BE49-F238E27FC236}">
                <a16:creationId xmlns:a16="http://schemas.microsoft.com/office/drawing/2014/main" id="{5937BB60-E75B-ABDB-17B9-FD0A88846471}"/>
              </a:ext>
            </a:extLst>
          </p:cNvPr>
          <p:cNvSpPr>
            <a:spLocks noGrp="1"/>
          </p:cNvSpPr>
          <p:nvPr>
            <p:ph idx="1"/>
          </p:nvPr>
        </p:nvSpPr>
        <p:spPr/>
        <p:txBody>
          <a:bodyPr wrap="square">
            <a:noAutofit/>
          </a:bodyPr>
          <a:lstStyle/>
          <a:p>
            <a:pPr marL="0" indent="0">
              <a:lnSpc>
                <a:spcPct val="100000"/>
              </a:lnSpc>
              <a:spcAft>
                <a:spcPts val="800"/>
              </a:spcAft>
              <a:buNone/>
            </a:pPr>
            <a:r>
              <a:rPr lang="en-US" dirty="0">
                <a:latin typeface="Noto Sans" panose="020B0502040504020204" pitchFamily="34" charset="0"/>
                <a:ea typeface="Noto Sans" panose="020B0502040504020204" pitchFamily="34" charset="0"/>
                <a:cs typeface="Noto Sans" panose="020B0502040504020204" pitchFamily="34" charset="0"/>
              </a:rPr>
              <a:t>Disrupting the world of staffing!</a:t>
            </a:r>
          </a:p>
          <a:p>
            <a:pPr marL="0" indent="0">
              <a:lnSpc>
                <a:spcPct val="100000"/>
              </a:lnSpc>
              <a:spcAft>
                <a:spcPts val="800"/>
              </a:spcAft>
              <a:buNone/>
            </a:pPr>
            <a:r>
              <a:rPr lang="en-US" dirty="0">
                <a:latin typeface="Noto Sans" panose="020B0502040504020204" pitchFamily="34" charset="0"/>
                <a:ea typeface="Noto Sans" panose="020B0502040504020204" pitchFamily="34" charset="0"/>
                <a:cs typeface="Noto Sans" panose="020B0502040504020204" pitchFamily="34" charset="0"/>
              </a:rPr>
              <a:t>Giving our customers the ability to have</a:t>
            </a:r>
            <a:br>
              <a:rPr lang="en-US" dirty="0">
                <a:latin typeface="Noto Sans" panose="020B0502040504020204" pitchFamily="34" charset="0"/>
                <a:ea typeface="Noto Sans" panose="020B0502040504020204" pitchFamily="34" charset="0"/>
                <a:cs typeface="Noto Sans" panose="020B0502040504020204" pitchFamily="34" charset="0"/>
              </a:rPr>
            </a:br>
            <a:r>
              <a:rPr lang="en-US" dirty="0">
                <a:latin typeface="Noto Sans" panose="020B0502040504020204" pitchFamily="34" charset="0"/>
                <a:ea typeface="Noto Sans" panose="020B0502040504020204" pitchFamily="34" charset="0"/>
                <a:cs typeface="Noto Sans" panose="020B0502040504020204" pitchFamily="34" charset="0"/>
              </a:rPr>
              <a:t>staff on par with Silicon Valley companies …</a:t>
            </a:r>
          </a:p>
          <a:p>
            <a:pPr marL="0" indent="0">
              <a:lnSpc>
                <a:spcPct val="100000"/>
              </a:lnSpc>
              <a:spcAft>
                <a:spcPts val="800"/>
              </a:spcAft>
              <a:buNone/>
            </a:pPr>
            <a:r>
              <a:rPr lang="en-US" dirty="0">
                <a:latin typeface="Noto Sans" panose="020B0502040504020204" pitchFamily="34" charset="0"/>
                <a:ea typeface="Noto Sans" panose="020B0502040504020204" pitchFamily="34" charset="0"/>
                <a:cs typeface="Noto Sans" panose="020B0502040504020204" pitchFamily="34" charset="0"/>
              </a:rPr>
              <a:t>… and our employees a work environment</a:t>
            </a:r>
            <a:br>
              <a:rPr lang="en-US" dirty="0">
                <a:latin typeface="Noto Sans" panose="020B0502040504020204" pitchFamily="34" charset="0"/>
                <a:ea typeface="Noto Sans" panose="020B0502040504020204" pitchFamily="34" charset="0"/>
                <a:cs typeface="Noto Sans" panose="020B0502040504020204" pitchFamily="34" charset="0"/>
              </a:rPr>
            </a:br>
            <a:r>
              <a:rPr lang="en-US" dirty="0">
                <a:latin typeface="Noto Sans" panose="020B0502040504020204" pitchFamily="34" charset="0"/>
                <a:ea typeface="Noto Sans" panose="020B0502040504020204" pitchFamily="34" charset="0"/>
                <a:cs typeface="Noto Sans" panose="020B0502040504020204" pitchFamily="34" charset="0"/>
              </a:rPr>
              <a:t>in a bleeding-edge tech company with</a:t>
            </a:r>
            <a:br>
              <a:rPr lang="en-US" dirty="0">
                <a:latin typeface="Noto Sans" panose="020B0502040504020204" pitchFamily="34" charset="0"/>
                <a:ea typeface="Noto Sans" panose="020B0502040504020204" pitchFamily="34" charset="0"/>
                <a:cs typeface="Noto Sans" panose="020B0502040504020204" pitchFamily="34" charset="0"/>
              </a:rPr>
            </a:br>
            <a:r>
              <a:rPr lang="en-US" dirty="0">
                <a:latin typeface="Noto Sans" panose="020B0502040504020204" pitchFamily="34" charset="0"/>
                <a:ea typeface="Noto Sans" panose="020B0502040504020204" pitchFamily="34" charset="0"/>
                <a:cs typeface="Noto Sans" panose="020B0502040504020204" pitchFamily="34" charset="0"/>
              </a:rPr>
              <a:t>the </a:t>
            </a:r>
            <a:r>
              <a:rPr lang="en-US" b="1" dirty="0">
                <a:latin typeface="Noto Sans" panose="020B0502040504020204" pitchFamily="34" charset="0"/>
                <a:ea typeface="Noto Sans" panose="020B0502040504020204" pitchFamily="34" charset="0"/>
                <a:cs typeface="Noto Sans" panose="020B0502040504020204" pitchFamily="34" charset="0"/>
              </a:rPr>
              <a:t>industry leading benefits!</a:t>
            </a:r>
          </a:p>
          <a:p>
            <a:pPr marL="0" indent="0">
              <a:lnSpc>
                <a:spcPct val="100000"/>
              </a:lnSpc>
              <a:spcAft>
                <a:spcPts val="800"/>
              </a:spcAft>
              <a:buNone/>
            </a:pPr>
            <a:r>
              <a:rPr lang="en-US" sz="3200" b="1" u="sng" dirty="0" err="1">
                <a:latin typeface="Noto Sans" panose="020B0502040504020204" pitchFamily="34" charset="0"/>
                <a:ea typeface="Noto Sans" panose="020B0502040504020204" pitchFamily="34" charset="0"/>
                <a:cs typeface="Noto Sans" panose="020B0502040504020204" pitchFamily="34" charset="0"/>
              </a:rPr>
              <a:t>codestaffing.com</a:t>
            </a:r>
            <a:endParaRPr lang="en-US" sz="3200" b="1" u="sng" dirty="0">
              <a:latin typeface="Noto Sans" panose="020B0502040504020204" pitchFamily="34" charset="0"/>
              <a:ea typeface="Noto Sans" panose="020B0502040504020204" pitchFamily="34" charset="0"/>
              <a:cs typeface="Noto Sans" panose="020B0502040504020204" pitchFamily="34" charset="0"/>
            </a:endParaRPr>
          </a:p>
        </p:txBody>
      </p:sp>
      <p:pic>
        <p:nvPicPr>
          <p:cNvPr id="6" name="Picture 4">
            <a:extLst>
              <a:ext uri="{FF2B5EF4-FFF2-40B4-BE49-F238E27FC236}">
                <a16:creationId xmlns:a16="http://schemas.microsoft.com/office/drawing/2014/main" id="{9AA5E9E9-C083-231F-C56A-C59FBA6B9B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20629753">
            <a:off x="5843962" y="1868833"/>
            <a:ext cx="6467577" cy="6467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16473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a:extLst>
              <a:ext uri="{FF2B5EF4-FFF2-40B4-BE49-F238E27FC236}">
                <a16:creationId xmlns:a16="http://schemas.microsoft.com/office/drawing/2014/main" id="{3E177C10-324E-EBC1-F8D2-35E9EA7EDB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4937" y="622314"/>
            <a:ext cx="4288122" cy="3573436"/>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3">
            <a:extLst>
              <a:ext uri="{FF2B5EF4-FFF2-40B4-BE49-F238E27FC236}">
                <a16:creationId xmlns:a16="http://schemas.microsoft.com/office/drawing/2014/main" id="{2889837A-B7B1-C067-9208-180483B66805}"/>
              </a:ext>
            </a:extLst>
          </p:cNvPr>
          <p:cNvSpPr>
            <a:spLocks noGrp="1"/>
          </p:cNvSpPr>
          <p:nvPr>
            <p:ph idx="4294967295"/>
          </p:nvPr>
        </p:nvSpPr>
        <p:spPr>
          <a:xfrm>
            <a:off x="0" y="4440238"/>
            <a:ext cx="9998075" cy="1770062"/>
          </a:xfrm>
        </p:spPr>
        <p:txBody>
          <a:bodyPr>
            <a:normAutofit/>
          </a:bodyPr>
          <a:lstStyle/>
          <a:p>
            <a:pPr marL="0" indent="0" algn="ctr">
              <a:buNone/>
            </a:pPr>
            <a:r>
              <a:rPr lang="en-US" sz="5400" b="1" dirty="0">
                <a:latin typeface="Noto Sans" panose="020B0502040504020204" pitchFamily="34" charset="0"/>
                <a:ea typeface="Noto Sans" panose="020B0502040504020204" pitchFamily="34" charset="0"/>
                <a:cs typeface="Noto Sans" panose="020B0502040504020204" pitchFamily="34" charset="0"/>
              </a:rPr>
              <a:t>WE NEED YOU!</a:t>
            </a:r>
          </a:p>
          <a:p>
            <a:pPr marL="0" indent="0" algn="ctr">
              <a:buNone/>
            </a:pPr>
            <a:r>
              <a:rPr lang="en-US" sz="3200" b="1" u="sng" dirty="0">
                <a:latin typeface="Noto Sans" panose="020B0502040504020204" pitchFamily="34" charset="0"/>
                <a:ea typeface="Noto Sans" panose="020B0502040504020204" pitchFamily="34" charset="0"/>
                <a:cs typeface="Noto Sans" panose="020B0502040504020204" pitchFamily="34" charset="0"/>
                <a:hlinkClick r:id="rId3">
                  <a:extLst>
                    <a:ext uri="{A12FA001-AC4F-418D-AE19-62706E023703}">
                      <ahyp:hlinkClr xmlns:ahyp="http://schemas.microsoft.com/office/drawing/2018/hyperlinkcolor" val="tx"/>
                    </a:ext>
                  </a:extLst>
                </a:hlinkClick>
              </a:rPr>
              <a:t>codestaffing.com/careers</a:t>
            </a:r>
            <a:endParaRPr lang="en-US" sz="3200" b="1" u="sng"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676089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250" fill="hold"/>
                                        <p:tgtEl>
                                          <p:spTgt spid="9"/>
                                        </p:tgtEl>
                                        <p:attrNameLst>
                                          <p:attrName>ppt_w</p:attrName>
                                        </p:attrNameLst>
                                      </p:cBhvr>
                                      <p:tavLst>
                                        <p:tav tm="0">
                                          <p:val>
                                            <p:fltVal val="0"/>
                                          </p:val>
                                        </p:tav>
                                        <p:tav tm="100000">
                                          <p:val>
                                            <p:strVal val="#ppt_w"/>
                                          </p:val>
                                        </p:tav>
                                      </p:tavLst>
                                    </p:anim>
                                    <p:anim calcmode="lin" valueType="num">
                                      <p:cBhvr>
                                        <p:cTn id="8" dur="25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website&#10;&#10;Description automatically generated">
            <a:extLst>
              <a:ext uri="{FF2B5EF4-FFF2-40B4-BE49-F238E27FC236}">
                <a16:creationId xmlns:a16="http://schemas.microsoft.com/office/drawing/2014/main" id="{6247A74A-7498-47C6-9D89-70A0F359D800}"/>
              </a:ext>
            </a:extLst>
          </p:cNvPr>
          <p:cNvPicPr>
            <a:picLocks noChangeAspect="1"/>
          </p:cNvPicPr>
          <p:nvPr/>
        </p:nvPicPr>
        <p:blipFill rotWithShape="1">
          <a:blip r:embed="rId3">
            <a:extLst>
              <a:ext uri="{28A0092B-C50C-407E-A947-70E740481C1C}">
                <a14:useLocalDpi xmlns:a14="http://schemas.microsoft.com/office/drawing/2010/main" val="0"/>
              </a:ext>
            </a:extLst>
          </a:blip>
          <a:srcRect b="52384"/>
          <a:stretch/>
        </p:blipFill>
        <p:spPr>
          <a:xfrm>
            <a:off x="0" y="3306566"/>
            <a:ext cx="12192000" cy="3551434"/>
          </a:xfrm>
          <a:prstGeom prst="rect">
            <a:avLst/>
          </a:prstGeom>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spPr>
      </p:pic>
      <p:sp>
        <p:nvSpPr>
          <p:cNvPr id="14" name="Rectangle 13">
            <a:extLst>
              <a:ext uri="{FF2B5EF4-FFF2-40B4-BE49-F238E27FC236}">
                <a16:creationId xmlns:a16="http://schemas.microsoft.com/office/drawing/2014/main" id="{55E702C2-E0CF-D5AC-62D6-CD6F1404435F}"/>
              </a:ext>
            </a:extLst>
          </p:cNvPr>
          <p:cNvSpPr/>
          <p:nvPr/>
        </p:nvSpPr>
        <p:spPr>
          <a:xfrm>
            <a:off x="9821706" y="6455833"/>
            <a:ext cx="2192493" cy="402167"/>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5163C6A-AFA9-429F-5993-1B493123CA3F}"/>
              </a:ext>
            </a:extLst>
          </p:cNvPr>
          <p:cNvSpPr/>
          <p:nvPr/>
        </p:nvSpPr>
        <p:spPr>
          <a:xfrm>
            <a:off x="3092704" y="4018788"/>
            <a:ext cx="6646706" cy="1460334"/>
          </a:xfrm>
          <a:prstGeom prst="rect">
            <a:avLst/>
          </a:pr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solidFill>
                  <a:prstClr val="black"/>
                </a:solidFill>
              </a:ln>
              <a:solidFill>
                <a:srgbClr val="00B050"/>
              </a:solidFill>
              <a:effectLst/>
              <a:uLnTx/>
              <a:uFillTx/>
              <a:latin typeface="Calibri" panose="020F0502020204030204"/>
              <a:ea typeface="+mn-ea"/>
              <a:cs typeface="+mn-cs"/>
            </a:endParaRPr>
          </a:p>
        </p:txBody>
      </p:sp>
      <p:pic>
        <p:nvPicPr>
          <p:cNvPr id="3" name="Picture 2" descr="A blue and white logo&#10;&#10;Description automatically generated">
            <a:extLst>
              <a:ext uri="{FF2B5EF4-FFF2-40B4-BE49-F238E27FC236}">
                <a16:creationId xmlns:a16="http://schemas.microsoft.com/office/drawing/2014/main" id="{06EEDDE4-E251-AC30-750A-0BABC6E52D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29100" y="1460334"/>
            <a:ext cx="3733800" cy="829734"/>
          </a:xfrm>
          <a:prstGeom prst="rect">
            <a:avLst/>
          </a:prstGeom>
        </p:spPr>
      </p:pic>
      <p:pic>
        <p:nvPicPr>
          <p:cNvPr id="4" name="Picture 3">
            <a:extLst>
              <a:ext uri="{FF2B5EF4-FFF2-40B4-BE49-F238E27FC236}">
                <a16:creationId xmlns:a16="http://schemas.microsoft.com/office/drawing/2014/main" id="{0E665997-6EA1-11E7-B987-2907C9C9747A}"/>
              </a:ext>
            </a:extLst>
          </p:cNvPr>
          <p:cNvPicPr>
            <a:picLocks noChangeAspect="1"/>
          </p:cNvPicPr>
          <p:nvPr/>
        </p:nvPicPr>
        <p:blipFill>
          <a:blip r:embed="rId5"/>
          <a:stretch>
            <a:fillRect/>
          </a:stretch>
        </p:blipFill>
        <p:spPr>
          <a:xfrm>
            <a:off x="2676308" y="6363487"/>
            <a:ext cx="3105583" cy="276264"/>
          </a:xfrm>
          <a:prstGeom prst="rect">
            <a:avLst/>
          </a:prstGeom>
        </p:spPr>
      </p:pic>
      <p:sp>
        <p:nvSpPr>
          <p:cNvPr id="13" name="Rectangle 12">
            <a:extLst>
              <a:ext uri="{FF2B5EF4-FFF2-40B4-BE49-F238E27FC236}">
                <a16:creationId xmlns:a16="http://schemas.microsoft.com/office/drawing/2014/main" id="{97382116-953A-1E04-C4A0-BAB4C969A5E6}"/>
              </a:ext>
            </a:extLst>
          </p:cNvPr>
          <p:cNvSpPr/>
          <p:nvPr/>
        </p:nvSpPr>
        <p:spPr>
          <a:xfrm>
            <a:off x="0" y="3306566"/>
            <a:ext cx="12192000" cy="3551434"/>
          </a:xfrm>
          <a:prstGeom prst="rect">
            <a:avLst/>
          </a:prstGeom>
          <a:gradFill>
            <a:gsLst>
              <a:gs pos="0">
                <a:srgbClr val="1F4E79"/>
              </a:gs>
              <a:gs pos="100000">
                <a:schemeClr val="tx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10FE9F81-5AAE-A622-0B67-BE2CC1D4D75F}"/>
              </a:ext>
            </a:extLst>
          </p:cNvPr>
          <p:cNvSpPr>
            <a:spLocks noGrp="1"/>
          </p:cNvSpPr>
          <p:nvPr>
            <p:ph idx="4294967295"/>
          </p:nvPr>
        </p:nvSpPr>
        <p:spPr>
          <a:xfrm>
            <a:off x="4724400" y="2838450"/>
            <a:ext cx="7467600" cy="2620963"/>
          </a:xfrm>
        </p:spPr>
        <p:txBody>
          <a:bodyPr>
            <a:noAutofit/>
          </a:bodyPr>
          <a:lstStyle/>
          <a:p>
            <a:pPr marL="0" indent="0" algn="ctr">
              <a:buNone/>
            </a:pPr>
            <a:r>
              <a:rPr lang="en-US" sz="3200" dirty="0">
                <a:latin typeface="Noto Sans" panose="020B0502040504020204" pitchFamily="34" charset="0"/>
                <a:ea typeface="Noto Sans" panose="020B0502040504020204" pitchFamily="34" charset="0"/>
                <a:cs typeface="Noto Sans" panose="020B0502040504020204" pitchFamily="34" charset="0"/>
              </a:rPr>
              <a:t>Subscribe and “ring that bell”</a:t>
            </a:r>
          </a:p>
          <a:p>
            <a:pPr marL="0" indent="0" algn="ctr">
              <a:buNone/>
            </a:pPr>
            <a:r>
              <a:rPr lang="en-US" sz="3200" dirty="0">
                <a:latin typeface="Noto Sans" panose="020B0502040504020204" pitchFamily="34" charset="0"/>
                <a:ea typeface="Noto Sans" panose="020B0502040504020204" pitchFamily="34" charset="0"/>
                <a:cs typeface="Noto Sans" panose="020B0502040504020204" pitchFamily="34" charset="0"/>
              </a:rPr>
              <a:t>to never miss any of our content!</a:t>
            </a:r>
          </a:p>
          <a:p>
            <a:pPr marL="0" indent="0" algn="ctr">
              <a:buNone/>
            </a:pPr>
            <a:endParaRPr lang="en-US" sz="3200" dirty="0">
              <a:latin typeface="Noto Sans" panose="020B0502040504020204" pitchFamily="34" charset="0"/>
              <a:ea typeface="Noto Sans" panose="020B0502040504020204" pitchFamily="34" charset="0"/>
              <a:cs typeface="Noto Sans" panose="020B0502040504020204" pitchFamily="34" charset="0"/>
            </a:endParaRPr>
          </a:p>
          <a:p>
            <a:pPr marL="0" indent="0" algn="ctr">
              <a:buNone/>
            </a:pPr>
            <a:r>
              <a:rPr lang="en-US" sz="3200" b="1" dirty="0">
                <a:latin typeface="Noto Sans" panose="020B0502040504020204" pitchFamily="34" charset="0"/>
                <a:ea typeface="Noto Sans" panose="020B0502040504020204" pitchFamily="34" charset="0"/>
                <a:cs typeface="Noto Sans" panose="020B0502040504020204" pitchFamily="34" charset="0"/>
                <a:hlinkClick r:id="rId6">
                  <a:extLst>
                    <a:ext uri="{A12FA001-AC4F-418D-AE19-62706E023703}">
                      <ahyp:hlinkClr xmlns:ahyp="http://schemas.microsoft.com/office/drawing/2018/hyperlinkcolor" val="tx"/>
                    </a:ext>
                  </a:extLst>
                </a:hlinkClick>
              </a:rPr>
              <a:t>youtube.com/codemag</a:t>
            </a:r>
            <a:endParaRPr lang="en-US" sz="3200" b="1"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0259118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247A74A-7498-47C6-9D89-70A0F359D800}"/>
              </a:ext>
            </a:extLst>
          </p:cNvPr>
          <p:cNvPicPr>
            <a:picLocks noChangeAspect="1"/>
          </p:cNvPicPr>
          <p:nvPr/>
        </p:nvPicPr>
        <p:blipFill rotWithShape="1">
          <a:blip r:embed="rId3"/>
          <a:srcRect l="998" t="1938" r="-122" b="35533"/>
          <a:stretch/>
        </p:blipFill>
        <p:spPr>
          <a:xfrm>
            <a:off x="1066800" y="2238544"/>
            <a:ext cx="10058400" cy="3474720"/>
          </a:xfrm>
          <a:prstGeom prst="rect">
            <a:avLst/>
          </a:prstGeom>
          <a:gradFill>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gradFill>
          <a:effectLst/>
        </p:spPr>
      </p:pic>
      <p:sp>
        <p:nvSpPr>
          <p:cNvPr id="8" name="TextBox 7">
            <a:extLst>
              <a:ext uri="{FF2B5EF4-FFF2-40B4-BE49-F238E27FC236}">
                <a16:creationId xmlns:a16="http://schemas.microsoft.com/office/drawing/2014/main" id="{BB153A00-695F-4BCC-4C72-E4A7BAFA0961}"/>
              </a:ext>
            </a:extLst>
          </p:cNvPr>
          <p:cNvSpPr txBox="1"/>
          <p:nvPr/>
        </p:nvSpPr>
        <p:spPr>
          <a:xfrm>
            <a:off x="4532452" y="6076538"/>
            <a:ext cx="6893689" cy="46166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www.linkedin.com/company/</a:t>
            </a:r>
            <a:r>
              <a:rPr kumimoji="0" lang="en-US" sz="24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code-magazine</a:t>
            </a:r>
          </a:p>
        </p:txBody>
      </p:sp>
      <p:sp>
        <p:nvSpPr>
          <p:cNvPr id="10" name="TextBox 9">
            <a:extLst>
              <a:ext uri="{FF2B5EF4-FFF2-40B4-BE49-F238E27FC236}">
                <a16:creationId xmlns:a16="http://schemas.microsoft.com/office/drawing/2014/main" id="{CC6F29AF-422E-21F2-47B3-18408AC1B547}"/>
              </a:ext>
            </a:extLst>
          </p:cNvPr>
          <p:cNvSpPr txBox="1"/>
          <p:nvPr/>
        </p:nvSpPr>
        <p:spPr>
          <a:xfrm>
            <a:off x="904755" y="1036375"/>
            <a:ext cx="6803985" cy="95410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Be the first to know about our webinars, workshops, and live events!</a:t>
            </a:r>
          </a:p>
        </p:txBody>
      </p:sp>
      <p:pic>
        <p:nvPicPr>
          <p:cNvPr id="1026" name="Picture 2" descr="Linkedin logo white - hackgai">
            <a:extLst>
              <a:ext uri="{FF2B5EF4-FFF2-40B4-BE49-F238E27FC236}">
                <a16:creationId xmlns:a16="http://schemas.microsoft.com/office/drawing/2014/main" id="{5686C6E6-B515-365E-D282-FA3E4392084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6001" b="27659"/>
          <a:stretch/>
        </p:blipFill>
        <p:spPr bwMode="auto">
          <a:xfrm>
            <a:off x="1357132" y="2423860"/>
            <a:ext cx="2157417" cy="562352"/>
          </a:xfrm>
          <a:prstGeom prst="rect">
            <a:avLst/>
          </a:prstGeom>
          <a:solidFill>
            <a:schemeClr val="bg1"/>
          </a:solidFill>
        </p:spPr>
      </p:pic>
      <p:sp>
        <p:nvSpPr>
          <p:cNvPr id="18" name="Content Placeholder 6">
            <a:extLst>
              <a:ext uri="{FF2B5EF4-FFF2-40B4-BE49-F238E27FC236}">
                <a16:creationId xmlns:a16="http://schemas.microsoft.com/office/drawing/2014/main" id="{F6E49703-DBC4-73ED-4719-72245B236757}"/>
              </a:ext>
            </a:extLst>
          </p:cNvPr>
          <p:cNvSpPr txBox="1">
            <a:spLocks/>
          </p:cNvSpPr>
          <p:nvPr/>
        </p:nvSpPr>
        <p:spPr>
          <a:xfrm>
            <a:off x="904755" y="5961326"/>
            <a:ext cx="2995913" cy="7636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4000" b="1" i="0" u="none" strike="noStrike" kern="1200" cap="none" spc="0" normalizeH="0" baseline="0" noProof="0" dirty="0">
                <a:ln>
                  <a:noFill/>
                </a:ln>
                <a:solidFill>
                  <a:prstClr val="white"/>
                </a:solidFill>
                <a:effectLst/>
                <a:uLnTx/>
                <a:uFillTx/>
                <a:latin typeface="Noto Sans" panose="020B0502040504020204" pitchFamily="34" charset="0"/>
                <a:ea typeface="Noto Sans" panose="020B0502040504020204" pitchFamily="34" charset="0"/>
                <a:cs typeface="Noto Sans" panose="020B0502040504020204" pitchFamily="34" charset="0"/>
              </a:rPr>
              <a:t>Follow us! </a:t>
            </a:r>
          </a:p>
        </p:txBody>
      </p:sp>
    </p:spTree>
    <p:extLst>
      <p:ext uri="{BB962C8B-B14F-4D97-AF65-F5344CB8AC3E}">
        <p14:creationId xmlns:p14="http://schemas.microsoft.com/office/powerpoint/2010/main" val="174594605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84E9-2E00-14E1-1A29-58C399E608EC}"/>
              </a:ext>
            </a:extLst>
          </p:cNvPr>
          <p:cNvSpPr txBox="1">
            <a:spLocks/>
          </p:cNvSpPr>
          <p:nvPr/>
        </p:nvSpPr>
        <p:spPr>
          <a:xfrm>
            <a:off x="838200" y="1663700"/>
            <a:ext cx="10515600" cy="2084822"/>
          </a:xfrm>
          <a:prstGeom prst="rect">
            <a:avLst/>
          </a:prstGeom>
        </p:spPr>
        <p:txBody>
          <a:bodyPr vert="horz" lIns="91440" tIns="45720" rIns="91440" bIns="45720" rtlCol="0" anchor="t">
            <a:normAutofit fontScale="92500" lnSpcReduction="10000"/>
          </a:bodyPr>
          <a:lstStyle>
            <a:lvl1pPr algn="l" defTabSz="914377"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b="1" dirty="0">
                <a:solidFill>
                  <a:schemeClr val="bg1"/>
                </a:solidFill>
                <a:latin typeface="Noto Sans" panose="020B0502040504020204" pitchFamily="34" charset="0"/>
                <a:ea typeface="Noto Sans" panose="020B0502040504020204" pitchFamily="34" charset="0"/>
                <a:cs typeface="Noto Sans" panose="020B0502040504020204" pitchFamily="34" charset="0"/>
              </a:rPr>
              <a:t>Q&amp;A</a:t>
            </a:r>
          </a:p>
          <a:p>
            <a:pPr algn="ctr"/>
            <a:endParaRPr lang="en-US" sz="4300" b="1"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a:p>
            <a:pPr algn="ctr"/>
            <a:r>
              <a:rPr lang="en-US" sz="4300" b="1" dirty="0">
                <a:solidFill>
                  <a:schemeClr val="bg1"/>
                </a:solidFill>
                <a:latin typeface="Noto Sans" panose="020B0502040504020204" pitchFamily="34" charset="0"/>
                <a:ea typeface="Noto Sans" panose="020B0502040504020204" pitchFamily="34" charset="0"/>
                <a:cs typeface="Noto Sans" panose="020B0502040504020204" pitchFamily="34" charset="0"/>
              </a:rPr>
              <a:t>Contact us with questions!</a:t>
            </a:r>
          </a:p>
        </p:txBody>
      </p:sp>
      <p:sp>
        <p:nvSpPr>
          <p:cNvPr id="3" name="Subtitle 2">
            <a:extLst>
              <a:ext uri="{FF2B5EF4-FFF2-40B4-BE49-F238E27FC236}">
                <a16:creationId xmlns:a16="http://schemas.microsoft.com/office/drawing/2014/main" id="{CB1020B1-5E48-DEB2-3BA8-F3C0F48DB8EA}"/>
              </a:ext>
            </a:extLst>
          </p:cNvPr>
          <p:cNvSpPr txBox="1">
            <a:spLocks/>
          </p:cNvSpPr>
          <p:nvPr/>
        </p:nvSpPr>
        <p:spPr>
          <a:xfrm>
            <a:off x="1013952" y="4344072"/>
            <a:ext cx="4472447" cy="1864097"/>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800"/>
              </a:spcAft>
              <a:buNone/>
            </a:pPr>
            <a:r>
              <a:rPr lang="en-US" sz="1800" b="1" dirty="0">
                <a:solidFill>
                  <a:schemeClr val="bg1"/>
                </a:solidFill>
                <a:latin typeface="Noto Sans" panose="020B0502040504020204" pitchFamily="34" charset="0"/>
                <a:ea typeface="Noto Sans" panose="020B0502040504020204" pitchFamily="34" charset="0"/>
                <a:cs typeface="Noto Sans" panose="020B0502040504020204" pitchFamily="34" charset="0"/>
              </a:rPr>
              <a:t>CODE Contact</a:t>
            </a:r>
          </a:p>
          <a:p>
            <a:pPr marL="0" indent="0">
              <a:lnSpc>
                <a:spcPct val="100000"/>
              </a:lnSpc>
              <a:spcAft>
                <a:spcPts val="800"/>
              </a:spcAft>
              <a:buNone/>
            </a:pPr>
            <a:r>
              <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hlinkClick r:id="" action="ppaction://noaction">
                  <a:extLst>
                    <a:ext uri="{A12FA001-AC4F-418D-AE19-62706E023703}">
                      <ahyp:hlinkClr xmlns:ahyp="http://schemas.microsoft.com/office/drawing/2018/hyperlinkcolor" val="tx"/>
                    </a:ext>
                  </a:extLst>
                </a:hlinkClick>
              </a:rPr>
              <a:t>codemag.com</a:t>
            </a:r>
            <a:br>
              <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hlinkClick r:id="" action="ppaction://noaction">
                  <a:extLst>
                    <a:ext uri="{A12FA001-AC4F-418D-AE19-62706E023703}">
                      <ahyp:hlinkClr xmlns:ahyp="http://schemas.microsoft.com/office/drawing/2018/hyperlinkcolor" val="tx"/>
                    </a:ext>
                  </a:extLst>
                </a:hlinkClick>
              </a:rPr>
            </a:br>
            <a:r>
              <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hlinkClick r:id="rId2">
                  <a:extLst>
                    <a:ext uri="{A12FA001-AC4F-418D-AE19-62706E023703}">
                      <ahyp:hlinkClr xmlns:ahyp="http://schemas.microsoft.com/office/drawing/2018/hyperlinkcolor" val="tx"/>
                    </a:ext>
                  </a:extLst>
                </a:hlinkClick>
              </a:rPr>
              <a:t>info@codemag.com</a:t>
            </a:r>
            <a:br>
              <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hlinkClick r:id="rId3" action="ppaction://hlinkfile">
                  <a:extLst>
                    <a:ext uri="{A12FA001-AC4F-418D-AE19-62706E023703}">
                      <ahyp:hlinkClr xmlns:ahyp="http://schemas.microsoft.com/office/drawing/2018/hyperlinkcolor" val="tx"/>
                    </a:ext>
                  </a:extLst>
                </a:hlinkClick>
              </a:rPr>
              <a:t>facebook.com/codemag</a:t>
            </a:r>
            <a:br>
              <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rPr>
            </a:br>
            <a:r>
              <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hlinkClick r:id="rId4" action="ppaction://hlinkfile">
                  <a:extLst>
                    <a:ext uri="{A12FA001-AC4F-418D-AE19-62706E023703}">
                      <ahyp:hlinkClr xmlns:ahyp="http://schemas.microsoft.com/office/drawing/2018/hyperlinkcolor" val="tx"/>
                    </a:ext>
                  </a:extLst>
                </a:hlinkClick>
              </a:rPr>
              <a:t>twitter.com/codemagazine</a:t>
            </a:r>
            <a:endParaRPr lang="en-US" sz="1800" dirty="0">
              <a:solidFill>
                <a:schemeClr val="bg1"/>
              </a:solidFill>
              <a:latin typeface="Noto Sans" panose="020B0502040504020204" pitchFamily="34" charset="0"/>
              <a:ea typeface="Noto Sans" panose="020B0502040504020204" pitchFamily="34" charset="0"/>
              <a:cs typeface="Noto Sans" panose="020B0502040504020204" pitchFamily="34" charset="0"/>
            </a:endParaRPr>
          </a:p>
        </p:txBody>
      </p:sp>
      <p:sp>
        <p:nvSpPr>
          <p:cNvPr id="6" name="Subtitle 2">
            <a:extLst>
              <a:ext uri="{FF2B5EF4-FFF2-40B4-BE49-F238E27FC236}">
                <a16:creationId xmlns:a16="http://schemas.microsoft.com/office/drawing/2014/main" id="{11CE1901-0EE7-2B78-EEE2-58FE6EE08975}"/>
              </a:ext>
            </a:extLst>
          </p:cNvPr>
          <p:cNvSpPr txBox="1">
            <a:spLocks/>
          </p:cNvSpPr>
          <p:nvPr/>
        </p:nvSpPr>
        <p:spPr>
          <a:xfrm>
            <a:off x="6705603" y="4344072"/>
            <a:ext cx="4472447" cy="1864097"/>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Aft>
                <a:spcPts val="800"/>
              </a:spcAft>
              <a:buNone/>
            </a:pPr>
            <a:r>
              <a:rPr lang="en-US" sz="1800" b="1" dirty="0">
                <a:solidFill>
                  <a:schemeClr val="bg1"/>
                </a:solidFill>
                <a:latin typeface="Noto Sans" panose="020B0502040504020204" pitchFamily="34" charset="0"/>
                <a:ea typeface="Noto Sans" panose="020B0502040504020204" pitchFamily="34" charset="0"/>
                <a:cs typeface="Noto Sans" panose="020B0502040504020204" pitchFamily="34" charset="0"/>
              </a:rPr>
              <a:t>Presenter Contact</a:t>
            </a:r>
          </a:p>
          <a:p>
            <a:pPr marL="0" indent="0" algn="r">
              <a:lnSpc>
                <a:spcPct val="100000"/>
              </a:lnSpc>
              <a:spcAft>
                <a:spcPts val="800"/>
              </a:spcAft>
              <a:buNone/>
            </a:pPr>
            <a:r>
              <a:rPr lang="en-US" sz="1800" u="sng" dirty="0">
                <a:solidFill>
                  <a:schemeClr val="bg1"/>
                </a:solidFill>
                <a:latin typeface="Noto Sans" panose="020B0502040504020204" pitchFamily="34" charset="0"/>
                <a:ea typeface="Noto Sans" panose="020B0502040504020204" pitchFamily="34" charset="0"/>
                <a:cs typeface="Noto Sans" panose="020B0502040504020204" pitchFamily="34" charset="0"/>
                <a:hlinkClick r:id="rId2">
                  <a:extLst>
                    <a:ext uri="{A12FA001-AC4F-418D-AE19-62706E023703}">
                      <ahyp:hlinkClr xmlns:ahyp="http://schemas.microsoft.com/office/drawing/2018/hyperlinkcolor" val="tx"/>
                    </a:ext>
                  </a:extLst>
                </a:hlinkClick>
              </a:rPr>
              <a:t>myeager@codegroup.</a:t>
            </a:r>
            <a:r>
              <a:rPr lang="en-US" sz="1800" u="sng" dirty="0">
                <a:solidFill>
                  <a:schemeClr val="bg1"/>
                </a:solidFill>
                <a:latin typeface="Noto Sans" panose="020B0502040504020204" pitchFamily="34" charset="0"/>
                <a:ea typeface="Noto Sans" panose="020B0502040504020204" pitchFamily="34" charset="0"/>
                <a:cs typeface="Noto Sans" panose="020B0502040504020204" pitchFamily="34" charset="0"/>
              </a:rPr>
              <a:t>io</a:t>
            </a:r>
          </a:p>
        </p:txBody>
      </p:sp>
    </p:spTree>
    <p:extLst>
      <p:ext uri="{BB962C8B-B14F-4D97-AF65-F5344CB8AC3E}">
        <p14:creationId xmlns:p14="http://schemas.microsoft.com/office/powerpoint/2010/main" val="799621773"/>
      </p:ext>
    </p:extLst>
  </p:cSld>
  <p:clrMapOvr>
    <a:masterClrMapping/>
  </p:clrMapOvr>
  <p:transition>
    <p:fade/>
  </p:transition>
</p:sld>
</file>

<file path=ppt/theme/theme1.xml><?xml version="1.0" encoding="utf-8"?>
<a:theme xmlns:a="http://schemas.openxmlformats.org/drawingml/2006/main" name="Defaul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D5752659-B67B-4540-BB44-4A9A7E006405}"/>
    </a:ext>
  </a:extLst>
</a:theme>
</file>

<file path=ppt/theme/theme2.xml><?xml version="1.0" encoding="utf-8"?>
<a:theme xmlns:a="http://schemas.openxmlformats.org/drawingml/2006/main" name="State of AI">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A869F426-C2EF-4AF3-93F6-2EC479E8223F}"/>
    </a:ext>
  </a:extLst>
</a:theme>
</file>

<file path=ppt/theme/theme3.xml><?xml version="1.0" encoding="utf-8"?>
<a:theme xmlns:a="http://schemas.openxmlformats.org/drawingml/2006/main" name="State of .NE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F2DC2017-7CC2-411A-8EED-C5D873654952}"/>
    </a:ext>
  </a:extLst>
</a:theme>
</file>

<file path=ppt/theme/theme4.xml><?xml version="1.0" encoding="utf-8"?>
<a:theme xmlns:a="http://schemas.openxmlformats.org/drawingml/2006/main" name="CODE Present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362A8A19-D4B4-4C59-BE34-B4C3EF9D51E5}"/>
    </a:ext>
  </a:extLst>
</a:theme>
</file>

<file path=ppt/theme/theme5.xml><?xml version="1.0" encoding="utf-8"?>
<a:theme xmlns:a="http://schemas.openxmlformats.org/drawingml/2006/main" name="CODE Consult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2578ADD9-0EF8-47E6-8257-AC63E976BA5C}"/>
    </a:ext>
  </a:extLst>
</a:theme>
</file>

<file path=ppt/theme/theme6.xml><?xml version="1.0" encoding="utf-8"?>
<a:theme xmlns:a="http://schemas.openxmlformats.org/drawingml/2006/main" name="CODE Staff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8CAA7E23-DEFC-41FB-9C13-2FB8FB16ACBE}"/>
    </a:ext>
  </a:extLst>
</a:theme>
</file>

<file path=ppt/theme/theme7.xml><?xml version="1.0" encoding="utf-8"?>
<a:theme xmlns:a="http://schemas.openxmlformats.org/drawingml/2006/main" name="CODE Train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171B9219-0132-48DE-BC86-28B0B2B97A98}"/>
    </a:ext>
  </a:extLst>
</a:theme>
</file>

<file path=ppt/theme/theme8.xml><?xml version="1.0" encoding="utf-8"?>
<a:theme xmlns:a="http://schemas.openxmlformats.org/drawingml/2006/main" name="CODE Magazin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DE Slide Template.potx" id="{2543B8F1-3D2C-44FD-A6E6-1D4F0122E29B}" vid="{8B7945B5-520B-4BEC-94DC-2D7D878A284B}"/>
    </a:ext>
  </a:extLst>
</a:theme>
</file>

<file path=ppt/theme/theme9.xml><?xml version="1.0" encoding="utf-8"?>
<a:theme xmlns:a="http://schemas.openxmlformats.org/drawingml/2006/main" name="1_Defaul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AI Presentation Template.potx" id="{6498E43A-9467-412F-AEA1-E49F17B030C1}" vid="{A52A8E87-D7CC-4910-92A9-62C973DD6751}"/>
    </a:ext>
  </a:extLst>
</a:theme>
</file>

<file path=ppt/theme/theme10.xml><?xml version="1.0" encoding="utf-8"?>
<a:theme xmlns:a="http://schemas.openxmlformats.org/drawingml/2006/main" name="1_CODE Consult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AI Presentation Template.potx" id="{6498E43A-9467-412F-AEA1-E49F17B030C1}" vid="{42994B92-638A-4479-923D-F12D6669D991}"/>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09f948e-1aab-48b8-a9c0-8d75b91a9c02" xsi:nil="true"/>
    <lcf76f155ced4ddcb4097134ff3c332f xmlns="6825521c-5c46-4303-bee9-36736f0bcc89">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87004330F6D8B418A43481AAFC77453" ma:contentTypeVersion="11" ma:contentTypeDescription="Create a new document." ma:contentTypeScope="" ma:versionID="a553cd1e91d4ed4e4b4e68b986b3777a">
  <xsd:schema xmlns:xsd="http://www.w3.org/2001/XMLSchema" xmlns:xs="http://www.w3.org/2001/XMLSchema" xmlns:p="http://schemas.microsoft.com/office/2006/metadata/properties" xmlns:ns2="6825521c-5c46-4303-bee9-36736f0bcc89" xmlns:ns3="c09f948e-1aab-48b8-a9c0-8d75b91a9c02" targetNamespace="http://schemas.microsoft.com/office/2006/metadata/properties" ma:root="true" ma:fieldsID="8405c573feb452d1cc24567bb097e92b" ns2:_="" ns3:_="">
    <xsd:import namespace="6825521c-5c46-4303-bee9-36736f0bcc89"/>
    <xsd:import namespace="c09f948e-1aab-48b8-a9c0-8d75b91a9c02"/>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bjectDetectorVersion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5521c-5c46-4303-bee9-36736f0bcc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93377a4a-4c81-44ab-ac96-2fc685daae3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09f948e-1aab-48b8-a9c0-8d75b91a9c02"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d61c9b3-202b-426e-a49f-1a59737401c2}" ma:internalName="TaxCatchAll" ma:showField="CatchAllData" ma:web="c09f948e-1aab-48b8-a9c0-8d75b91a9c02">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5A8386-B47F-46E3-B317-9133D59AE7A7}">
  <ds:schemaRefs>
    <ds:schemaRef ds:uri="http://schemas.microsoft.com/office/2006/metadata/properties"/>
    <ds:schemaRef ds:uri="http://schemas.microsoft.com/office/infopath/2007/PartnerControls"/>
    <ds:schemaRef ds:uri="c09f948e-1aab-48b8-a9c0-8d75b91a9c02"/>
    <ds:schemaRef ds:uri="6825521c-5c46-4303-bee9-36736f0bcc89"/>
  </ds:schemaRefs>
</ds:datastoreItem>
</file>

<file path=customXml/itemProps2.xml><?xml version="1.0" encoding="utf-8"?>
<ds:datastoreItem xmlns:ds="http://schemas.openxmlformats.org/officeDocument/2006/customXml" ds:itemID="{168BC360-EFEA-487E-B71F-DA0B6624A4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25521c-5c46-4303-bee9-36736f0bcc89"/>
    <ds:schemaRef ds:uri="c09f948e-1aab-48b8-a9c0-8d75b91a9c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EE28247-2048-4F9E-B077-51A8ACA44A6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CODE Slide Template</Template>
  <TotalTime>529</TotalTime>
  <Words>673</Words>
  <Application>Microsoft Office PowerPoint</Application>
  <PresentationFormat>Widescreen</PresentationFormat>
  <Paragraphs>111</Paragraphs>
  <Slides>24</Slides>
  <Notes>2</Notes>
  <HiddenSlides>1</HiddenSlides>
  <MMClips>0</MMClips>
  <ScaleCrop>false</ScaleCrop>
  <HeadingPairs>
    <vt:vector size="6" baseType="variant">
      <vt:variant>
        <vt:lpstr>Fonts Used</vt:lpstr>
      </vt:variant>
      <vt:variant>
        <vt:i4>4</vt:i4>
      </vt:variant>
      <vt:variant>
        <vt:lpstr>Theme</vt:lpstr>
      </vt:variant>
      <vt:variant>
        <vt:i4>10</vt:i4>
      </vt:variant>
      <vt:variant>
        <vt:lpstr>Slide Titles</vt:lpstr>
      </vt:variant>
      <vt:variant>
        <vt:i4>24</vt:i4>
      </vt:variant>
    </vt:vector>
  </HeadingPairs>
  <TitlesOfParts>
    <vt:vector size="38" baseType="lpstr">
      <vt:lpstr>Arial</vt:lpstr>
      <vt:lpstr>Calibri</vt:lpstr>
      <vt:lpstr>Noto Sans</vt:lpstr>
      <vt:lpstr>Victor Mono</vt:lpstr>
      <vt:lpstr>Default Slides</vt:lpstr>
      <vt:lpstr>State of AI</vt:lpstr>
      <vt:lpstr>State of .NET</vt:lpstr>
      <vt:lpstr>CODE Presents</vt:lpstr>
      <vt:lpstr>CODE Consulting</vt:lpstr>
      <vt:lpstr>CODE Staffing</vt:lpstr>
      <vt:lpstr>CODE Training</vt:lpstr>
      <vt:lpstr>CODE Magazine</vt:lpstr>
      <vt:lpstr>1_Default Slides</vt:lpstr>
      <vt:lpstr>1_CODE Consulting</vt:lpstr>
      <vt:lpstr>Agent Framework Part 2 - Orchestration</vt:lpstr>
      <vt:lpstr>Mike Yeager</vt:lpstr>
      <vt:lpstr>PowerPoint Presentation</vt:lpstr>
      <vt:lpstr>About CODE Consulting </vt:lpstr>
      <vt:lpstr>Agenda</vt:lpstr>
      <vt:lpstr>What are Agents Anyway?</vt:lpstr>
      <vt:lpstr>Agent Fwk - Why do I care</vt:lpstr>
      <vt:lpstr>What is Microsoft.Agents.AI?</vt:lpstr>
      <vt:lpstr>NuGet Packages</vt:lpstr>
      <vt:lpstr>Orchestrations</vt:lpstr>
      <vt:lpstr>Orchestrations in the box</vt:lpstr>
      <vt:lpstr>Executors, Edges, and Message Flows</vt:lpstr>
      <vt:lpstr>Executors</vt:lpstr>
      <vt:lpstr>Edges</vt:lpstr>
      <vt:lpstr>Message Flows</vt:lpstr>
      <vt:lpstr>Demo</vt:lpstr>
      <vt:lpstr>Free Subscription</vt:lpstr>
      <vt:lpstr>Please take the survey</vt:lpstr>
      <vt:lpstr>AI Executive Briefings</vt:lpstr>
      <vt:lpstr>CODE Staffing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Mike Yeager</dc:creator>
  <cp:lastModifiedBy>Mike Yeager</cp:lastModifiedBy>
  <cp:revision>25</cp:revision>
  <dcterms:created xsi:type="dcterms:W3CDTF">2025-09-17T17:13:22Z</dcterms:created>
  <dcterms:modified xsi:type="dcterms:W3CDTF">2026-08-27T18:51:12Z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